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79" r:id="rId5"/>
    <p:sldId id="280" r:id="rId6"/>
    <p:sldId id="276" r:id="rId7"/>
    <p:sldId id="259" r:id="rId8"/>
    <p:sldId id="260" r:id="rId9"/>
    <p:sldId id="261" r:id="rId10"/>
    <p:sldId id="275" r:id="rId11"/>
    <p:sldId id="277" r:id="rId12"/>
    <p:sldId id="262" r:id="rId13"/>
    <p:sldId id="263" r:id="rId14"/>
    <p:sldId id="264" r:id="rId15"/>
    <p:sldId id="268" r:id="rId16"/>
    <p:sldId id="265" r:id="rId17"/>
    <p:sldId id="274"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09-01-2025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09/01/2025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09/01/2025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09/01/2025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09/01/2025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16563"/>
            <a:ext cx="10363200" cy="962898"/>
          </a:xfrm>
          <a:prstGeom prst="rect">
            <a:avLst/>
          </a:prstGeom>
          <a:noFill/>
          <a:ln>
            <a:noFill/>
          </a:ln>
        </p:spPr>
        <p:txBody>
          <a:bodyPr spcFirstLastPara="1" wrap="square" lIns="91425" tIns="45700" rIns="91425" bIns="45700" anchor="ctr" anchorCtr="0">
            <a:noAutofit/>
          </a:bodyPr>
          <a:lstStyle/>
          <a:p>
            <a:pPr lvl="0" algn="ctr">
              <a:spcBef>
                <a:spcPts val="0"/>
              </a:spcBef>
              <a:buClr>
                <a:srgbClr val="17365D"/>
              </a:buClr>
              <a:buSzPts val="2800"/>
            </a:pPr>
            <a:r>
              <a:rPr lang="en-IN" dirty="0"/>
              <a:t>Financial Causality Detection </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02144" y="1944430"/>
            <a:ext cx="3970500" cy="43835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smtClean="0">
                <a:latin typeface="Cambria" panose="02040503050406030204" pitchFamily="18" charset="0"/>
                <a:ea typeface="Cambria" panose="02040503050406030204" pitchFamily="18" charset="0"/>
              </a:rPr>
              <a:t>: G-9</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843975180"/>
              </p:ext>
            </p:extLst>
          </p:nvPr>
        </p:nvGraphicFramePr>
        <p:xfrm>
          <a:off x="429096" y="2382787"/>
          <a:ext cx="5418675" cy="2403120"/>
        </p:xfrm>
        <a:graphic>
          <a:graphicData uri="http://schemas.openxmlformats.org/drawingml/2006/table">
            <a:tbl>
              <a:tblPr firstRow="1" bandRow="1">
                <a:noFill/>
              </a:tblPr>
              <a:tblGrid>
                <a:gridCol w="2085000">
                  <a:extLst>
                    <a:ext uri="{9D8B030D-6E8A-4147-A177-3AD203B41FA5}">
                      <a16:colId xmlns="" xmlns:a16="http://schemas.microsoft.com/office/drawing/2014/main" val="20000"/>
                    </a:ext>
                  </a:extLst>
                </a:gridCol>
                <a:gridCol w="3333675">
                  <a:extLst>
                    <a:ext uri="{9D8B030D-6E8A-4147-A177-3AD203B41FA5}">
                      <a16:colId xmlns="" xmlns:a16="http://schemas.microsoft.com/office/drawing/2014/main" val="20001"/>
                    </a:ext>
                  </a:extLst>
                </a:gridCol>
              </a:tblGrid>
              <a:tr h="400520">
                <a:tc>
                  <a:txBody>
                    <a:bodyPr/>
                    <a:lstStyle/>
                    <a:p>
                      <a:pPr marL="0" marR="0" lvl="1" indent="0" algn="ctr" rtl="0">
                        <a:spcBef>
                          <a:spcPts val="0"/>
                        </a:spcBef>
                        <a:spcAft>
                          <a:spcPts val="0"/>
                        </a:spcAft>
                        <a:buNone/>
                      </a:pPr>
                      <a:r>
                        <a:rPr lang="en-GB" sz="1800" b="1" u="none" strike="noStrike" cap="none" dirty="0" smtClean="0">
                          <a:solidFill>
                            <a:srgbClr val="17365D"/>
                          </a:solidFill>
                        </a:rPr>
                        <a:t> 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smtClean="0">
                          <a:solidFill>
                            <a:srgbClr val="17365D"/>
                          </a:solidFill>
                        </a:rPr>
                        <a:t>           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0"/>
                  </a:ext>
                </a:extLst>
              </a:tr>
              <a:tr h="40052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1"/>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2"/>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3"/>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4"/>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Dr. Joe </a:t>
            </a:r>
            <a:r>
              <a:rPr lang="en-US" sz="1700" b="1" dirty="0" err="1" smtClean="0">
                <a:solidFill>
                  <a:srgbClr val="17365D"/>
                </a:solidFill>
                <a:latin typeface="Cambria" panose="02040503050406030204" pitchFamily="18" charset="0"/>
                <a:ea typeface="Cambria" panose="02040503050406030204" pitchFamily="18" charset="0"/>
                <a:cs typeface="Verdana"/>
                <a:sym typeface="Verdana"/>
              </a:rPr>
              <a:t>Arun</a:t>
            </a:r>
            <a:r>
              <a:rPr lang="en-US" sz="1700" b="1" dirty="0" smtClean="0">
                <a:solidFill>
                  <a:srgbClr val="17365D"/>
                </a:solidFill>
                <a:latin typeface="Cambria" panose="02040503050406030204" pitchFamily="18" charset="0"/>
                <a:ea typeface="Cambria" panose="02040503050406030204" pitchFamily="18" charset="0"/>
                <a:cs typeface="Verdana"/>
                <a:sym typeface="Verdana"/>
              </a:rPr>
              <a:t> Raja</a:t>
            </a:r>
          </a:p>
          <a:p>
            <a:pPr lvl="0">
              <a:spcBef>
                <a:spcPts val="340"/>
              </a:spcBef>
              <a:buClr>
                <a:srgbClr val="17365D"/>
              </a:buClr>
              <a:buSzPts val="1700"/>
            </a:pPr>
            <a:r>
              <a:rPr lang="en-US" sz="1700" dirty="0" smtClean="0">
                <a:solidFill>
                  <a:srgbClr val="17365D"/>
                </a:solidFill>
                <a:latin typeface="Cambria" panose="02040503050406030204" pitchFamily="18" charset="0"/>
                <a:ea typeface="Cambria" panose="02040503050406030204" pitchFamily="18" charset="0"/>
                <a:cs typeface="Verdana"/>
                <a:sym typeface="Verdana"/>
              </a:rPr>
              <a:t>Associate Professor</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6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PSCS184 </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endPar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of the Program: </a:t>
            </a:r>
            <a:r>
              <a:rPr lang="en-US" sz="2000" b="1" dirty="0" err="1" smtClean="0">
                <a:latin typeface="Cambria" panose="02040503050406030204" pitchFamily="18" charset="0"/>
                <a:ea typeface="Cambria" panose="02040503050406030204" pitchFamily="18" charset="0"/>
                <a:cs typeface="Verdana"/>
                <a:sym typeface="Verdana"/>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smtClean="0">
                <a:latin typeface="Cambria" panose="02040503050406030204" pitchFamily="18" charset="0"/>
                <a:ea typeface="Cambria" panose="02040503050406030204" pitchFamily="18" charset="0"/>
                <a:cs typeface="Verdana"/>
                <a:sym typeface="Verdana"/>
              </a:rPr>
              <a:t>Dr. Gopal Krishna </a:t>
            </a:r>
            <a:r>
              <a:rPr lang="en-US" sz="2000" b="1" dirty="0" err="1" smtClean="0">
                <a:latin typeface="Cambria" panose="02040503050406030204" pitchFamily="18" charset="0"/>
                <a:ea typeface="Cambria" panose="02040503050406030204" pitchFamily="18" charset="0"/>
                <a:cs typeface="Verdana"/>
                <a:sym typeface="Verdana"/>
              </a:rPr>
              <a:t>Shyam</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latin typeface="Cambria" panose="02040503050406030204" pitchFamily="18" charset="0"/>
                <a:ea typeface="Cambria" panose="02040503050406030204" pitchFamily="18" charset="0"/>
                <a:cs typeface="Verdana"/>
                <a:sym typeface="Verdana"/>
              </a:rPr>
              <a:t>Dr. </a:t>
            </a:r>
            <a:r>
              <a:rPr lang="en-US" sz="2000" b="1" dirty="0" err="1">
                <a:latin typeface="Cambria" panose="02040503050406030204" pitchFamily="18" charset="0"/>
                <a:ea typeface="Cambria" panose="02040503050406030204" pitchFamily="18" charset="0"/>
                <a:cs typeface="Verdana"/>
                <a:sym typeface="Verdana"/>
              </a:rPr>
              <a:t>Sudha</a:t>
            </a: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Md</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Zia </a:t>
            </a:r>
            <a:r>
              <a:rPr lang="en-US" sz="2000" b="1" dirty="0">
                <a:latin typeface="Cambria" panose="02040503050406030204" pitchFamily="18" charset="0"/>
                <a:ea typeface="Cambria" panose="02040503050406030204" pitchFamily="18" charset="0"/>
                <a:cs typeface="Verdana"/>
                <a:sym typeface="Verdana"/>
              </a:rPr>
              <a:t>U</a:t>
            </a:r>
            <a:r>
              <a:rPr lang="en-US" sz="2000" b="1" i="0" u="none" strike="noStrike" cap="none" dirty="0" smtClean="0">
                <a:solidFill>
                  <a:schemeClr val="tx1"/>
                </a:solidFill>
                <a:latin typeface="Cambria" panose="02040503050406030204" pitchFamily="18" charset="0"/>
                <a:ea typeface="Cambria" panose="02040503050406030204" pitchFamily="18" charset="0"/>
                <a:cs typeface="Verdana"/>
                <a:sym typeface="Verdana"/>
              </a:rPr>
              <a:t>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317" y="2906949"/>
            <a:ext cx="4876235" cy="17938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Introduction</a:t>
            </a:r>
          </a:p>
        </p:txBody>
      </p:sp>
      <p:sp>
        <p:nvSpPr>
          <p:cNvPr id="3" name="Content Placeholder 2"/>
          <p:cNvSpPr>
            <a:spLocks noGrp="1"/>
          </p:cNvSpPr>
          <p:nvPr>
            <p:ph idx="1"/>
          </p:nvPr>
        </p:nvSpPr>
        <p:spPr>
          <a:xfrm>
            <a:off x="812800" y="975576"/>
            <a:ext cx="10668000" cy="4952997"/>
          </a:xfrm>
        </p:spPr>
        <p:txBody>
          <a:bodyPr>
            <a:noAutofit/>
          </a:bodyPr>
          <a:lstStyle/>
          <a:p>
            <a:pPr marL="0" indent="0" algn="just">
              <a:buNone/>
            </a:pPr>
            <a:r>
              <a:rPr lang="en-US" dirty="0">
                <a:latin typeface="Cambria" panose="02040503050406030204" pitchFamily="18" charset="0"/>
                <a:ea typeface="Cambria" panose="02040503050406030204" pitchFamily="18" charset="0"/>
              </a:rPr>
              <a:t>Financial causality detection plays a significant role in analyzing financial disclosures and reports. By understanding cause-effect relationships within financial texts, businesses, regulators, and investors can make informed decisions. This task involves both </a:t>
            </a:r>
            <a:r>
              <a:rPr lang="en-US" b="1" dirty="0">
                <a:latin typeface="Cambria" panose="02040503050406030204" pitchFamily="18" charset="0"/>
                <a:ea typeface="Cambria" panose="02040503050406030204" pitchFamily="18" charset="0"/>
              </a:rPr>
              <a:t>extractive</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generative</a:t>
            </a:r>
            <a:r>
              <a:rPr lang="en-US" dirty="0">
                <a:latin typeface="Cambria" panose="02040503050406030204" pitchFamily="18" charset="0"/>
                <a:ea typeface="Cambria" panose="02040503050406030204" pitchFamily="18" charset="0"/>
              </a:rPr>
              <a:t> approaches to Question Answering (QA) for detecting causal effects in financial data. </a:t>
            </a:r>
            <a:endParaRPr lang="en-US" dirty="0" smtClean="0">
              <a:latin typeface="Cambria" panose="02040503050406030204" pitchFamily="18" charset="0"/>
              <a:ea typeface="Cambria" panose="02040503050406030204" pitchFamily="18" charset="0"/>
            </a:endParaRP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Extractive </a:t>
            </a:r>
            <a:r>
              <a:rPr lang="en-US" dirty="0">
                <a:latin typeface="Cambria" panose="02040503050406030204" pitchFamily="18" charset="0"/>
                <a:ea typeface="Cambria" panose="02040503050406030204" pitchFamily="18" charset="0"/>
              </a:rPr>
              <a:t>QA focuses on finding exact answers from the text, while generative QA can generate creative and abstract answers by forming deeper inferences from the data. By implementing Natural Language Processing (NLP) techniques with models like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we can automate the process of detecting causal relationships in both </a:t>
            </a:r>
            <a:r>
              <a:rPr lang="en-US" b="1" dirty="0">
                <a:latin typeface="Cambria" panose="02040503050406030204" pitchFamily="18" charset="0"/>
                <a:ea typeface="Cambria" panose="02040503050406030204" pitchFamily="18" charset="0"/>
              </a:rPr>
              <a:t>English</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Spanish</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datasets.</a:t>
            </a: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The </a:t>
            </a:r>
            <a:r>
              <a:rPr lang="en-US" dirty="0">
                <a:latin typeface="Cambria" panose="02040503050406030204" pitchFamily="18" charset="0"/>
                <a:ea typeface="Cambria" panose="02040503050406030204" pitchFamily="18" charset="0"/>
              </a:rPr>
              <a:t>task involves preprocessing text using language models like </a:t>
            </a:r>
            <a:r>
              <a:rPr lang="en-US" b="1" dirty="0" err="1">
                <a:latin typeface="Cambria" panose="02040503050406030204" pitchFamily="18" charset="0"/>
                <a:ea typeface="Cambria" panose="02040503050406030204" pitchFamily="18" charset="0"/>
              </a:rPr>
              <a:t>SpaCy</a:t>
            </a:r>
            <a:r>
              <a:rPr lang="en-US" dirty="0">
                <a:latin typeface="Cambria" panose="02040503050406030204" pitchFamily="18" charset="0"/>
                <a:ea typeface="Cambria" panose="02040503050406030204" pitchFamily="18" charset="0"/>
              </a:rPr>
              <a:t> for tokenization,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for extractive QA,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for generative QA. </a:t>
            </a:r>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p:txBody>
          <a:bodyPr>
            <a:normAutofit fontScale="92500" lnSpcReduction="10000"/>
          </a:bodyPr>
          <a:lstStyle/>
          <a:p>
            <a:pPr marL="0" indent="0" algn="ctr">
              <a:lnSpc>
                <a:spcPct val="160000"/>
              </a:lnSpc>
              <a:buNone/>
            </a:pPr>
            <a:r>
              <a:rPr lang="en-IN" sz="3300" u="sng" dirty="0" smtClean="0">
                <a:latin typeface="Cambria" panose="02040503050406030204" pitchFamily="18" charset="0"/>
                <a:ea typeface="Cambria" panose="02040503050406030204" pitchFamily="18" charset="0"/>
              </a:rPr>
              <a:t>“</a:t>
            </a:r>
            <a:r>
              <a:rPr lang="en-IN" sz="3300" b="1" u="sng" dirty="0" smtClean="0">
                <a:latin typeface="Cambria" panose="02040503050406030204" pitchFamily="18" charset="0"/>
                <a:ea typeface="Cambria" panose="02040503050406030204" pitchFamily="18" charset="0"/>
              </a:rPr>
              <a:t>Deep </a:t>
            </a:r>
            <a:r>
              <a:rPr lang="en-IN" sz="3300" b="1" u="sng" dirty="0">
                <a:latin typeface="Cambria" panose="02040503050406030204" pitchFamily="18" charset="0"/>
                <a:ea typeface="Cambria" panose="02040503050406030204" pitchFamily="18" charset="0"/>
              </a:rPr>
              <a:t>Learning. MIT Press</a:t>
            </a:r>
            <a:r>
              <a:rPr lang="en-IN" sz="3300" b="1" u="sng" dirty="0" smtClean="0">
                <a:latin typeface="Cambria" panose="02040503050406030204" pitchFamily="18" charset="0"/>
                <a:ea typeface="Cambria" panose="02040503050406030204" pitchFamily="18" charset="0"/>
              </a:rPr>
              <a:t>.”</a:t>
            </a:r>
            <a:endParaRPr lang="en-US" sz="3300" b="1" u="sng"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Goodfellow, I., </a:t>
            </a:r>
            <a:r>
              <a:rPr lang="en-US" dirty="0" err="1">
                <a:latin typeface="Cambria" panose="02040503050406030204" pitchFamily="18" charset="0"/>
                <a:ea typeface="Cambria" panose="02040503050406030204" pitchFamily="18" charset="0"/>
              </a:rPr>
              <a:t>Bengio</a:t>
            </a:r>
            <a:r>
              <a:rPr lang="en-US" dirty="0">
                <a:latin typeface="Cambria" panose="02040503050406030204" pitchFamily="18" charset="0"/>
                <a:ea typeface="Cambria" panose="02040503050406030204" pitchFamily="18" charset="0"/>
              </a:rPr>
              <a:t>, Y., &amp; </a:t>
            </a:r>
            <a:r>
              <a:rPr lang="en-US" dirty="0" err="1">
                <a:latin typeface="Cambria" panose="02040503050406030204" pitchFamily="18" charset="0"/>
                <a:ea typeface="Cambria" panose="02040503050406030204" pitchFamily="18" charset="0"/>
              </a:rPr>
              <a:t>Courville</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a:t>
            </a:r>
          </a:p>
          <a:p>
            <a:pPr algn="just">
              <a:lnSpc>
                <a:spcPct val="16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Algorithm </a:t>
            </a:r>
            <a:r>
              <a:rPr lang="en-IN" b="1" dirty="0">
                <a:latin typeface="Cambria" panose="02040503050406030204" pitchFamily="18" charset="0"/>
                <a:ea typeface="Cambria" panose="02040503050406030204" pitchFamily="18" charset="0"/>
              </a:rPr>
              <a:t>Used</a:t>
            </a:r>
            <a:r>
              <a:rPr lang="en-IN" dirty="0" smtClean="0">
                <a:latin typeface="Cambria" panose="02040503050406030204" pitchFamily="18" charset="0"/>
                <a:ea typeface="Cambria" panose="02040503050406030204" pitchFamily="18" charset="0"/>
              </a:rPr>
              <a:t>:</a:t>
            </a:r>
          </a:p>
          <a:p>
            <a:pPr algn="just"/>
            <a:r>
              <a:rPr lang="en-IN" b="1" dirty="0" smtClean="0">
                <a:latin typeface="Cambria" panose="02040503050406030204" pitchFamily="18" charset="0"/>
                <a:ea typeface="Cambria" panose="02040503050406030204" pitchFamily="18" charset="0"/>
              </a:rPr>
              <a:t>Deep </a:t>
            </a:r>
            <a:r>
              <a:rPr lang="en-IN" b="1" dirty="0">
                <a:latin typeface="Cambria" panose="02040503050406030204" pitchFamily="18" charset="0"/>
                <a:ea typeface="Cambria" panose="02040503050406030204" pitchFamily="18" charset="0"/>
              </a:rPr>
              <a:t>Neural Networks (DNNs)</a:t>
            </a:r>
            <a:r>
              <a:rPr lang="en-IN" dirty="0">
                <a:latin typeface="Cambria" panose="02040503050406030204" pitchFamily="18" charset="0"/>
                <a:ea typeface="Cambria" panose="02040503050406030204" pitchFamily="18" charset="0"/>
              </a:rPr>
              <a:t>: The book covers a wide range of deep learning architectures such as Convolutional Neural Networks (CNNs), Recurrent Neural Networks (RNNs), and generative models like Generative Adversarial Networks (GANs).</a:t>
            </a:r>
          </a:p>
          <a:p>
            <a:pPr algn="just">
              <a:buFont typeface="Wingdings" panose="05000000000000000000" pitchFamily="2" charset="2"/>
              <a:buChar char="Ø"/>
            </a:pPr>
            <a:r>
              <a:rPr lang="en-US" b="1" dirty="0" smtClean="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Computationally </a:t>
            </a:r>
            <a:r>
              <a:rPr lang="en-US" b="1" dirty="0">
                <a:latin typeface="Cambria" panose="02040503050406030204" pitchFamily="18" charset="0"/>
                <a:ea typeface="Cambria" panose="02040503050406030204" pitchFamily="18" charset="0"/>
              </a:rPr>
              <a:t>Expensive</a:t>
            </a:r>
            <a:r>
              <a:rPr lang="en-US" dirty="0">
                <a:latin typeface="Cambria" panose="02040503050406030204" pitchFamily="18" charset="0"/>
                <a:ea typeface="Cambria" panose="02040503050406030204" pitchFamily="18" charset="0"/>
              </a:rPr>
              <a:t>: Training deep networks requires a lot of computational power and memory.</a:t>
            </a:r>
          </a:p>
          <a:p>
            <a:pPr algn="just"/>
            <a:r>
              <a:rPr lang="en-US" b="1" dirty="0" err="1">
                <a:latin typeface="Cambria" panose="02040503050406030204" pitchFamily="18" charset="0"/>
                <a:ea typeface="Cambria" panose="02040503050406030204" pitchFamily="18" charset="0"/>
              </a:rPr>
              <a:t>Overfitting</a:t>
            </a:r>
            <a:r>
              <a:rPr lang="en-US" dirty="0">
                <a:latin typeface="Cambria" panose="02040503050406030204" pitchFamily="18" charset="0"/>
                <a:ea typeface="Cambria" panose="02040503050406030204" pitchFamily="18" charset="0"/>
              </a:rPr>
              <a:t>: Deep networks can easily </a:t>
            </a:r>
            <a:r>
              <a:rPr lang="en-US" dirty="0" err="1">
                <a:latin typeface="Cambria" panose="02040503050406030204" pitchFamily="18" charset="0"/>
                <a:ea typeface="Cambria" panose="02040503050406030204" pitchFamily="18" charset="0"/>
              </a:rPr>
              <a:t>overfit</a:t>
            </a:r>
            <a:r>
              <a:rPr lang="en-US" dirty="0">
                <a:latin typeface="Cambria" panose="02040503050406030204" pitchFamily="18" charset="0"/>
                <a:ea typeface="Cambria" panose="02040503050406030204" pitchFamily="18" charset="0"/>
              </a:rPr>
              <a:t>, especially when trained on small datasets.</a:t>
            </a:r>
          </a:p>
          <a:p>
            <a:pPr algn="just">
              <a:lnSpc>
                <a:spcPct val="160000"/>
              </a:lnSpc>
              <a:buFont typeface="Wingdings" panose="05000000000000000000" pitchFamily="2" charset="2"/>
              <a:buChar char="Ø"/>
            </a:pPr>
            <a:endParaRPr lang="en-US" u="sng" dirty="0">
              <a:latin typeface="Cambria" panose="02040503050406030204" pitchFamily="18" charset="0"/>
              <a:ea typeface="Cambria" panose="02040503050406030204" pitchFamily="18" charset="0"/>
            </a:endParaRPr>
          </a:p>
          <a:p>
            <a:pPr marL="0" indent="0" algn="just">
              <a:lnSpc>
                <a:spcPct val="160000"/>
              </a:lnSpc>
              <a:buNone/>
            </a:pPr>
            <a:endParaRPr lang="en-IN" b="1" dirty="0">
              <a:latin typeface="Cambria" panose="02040503050406030204" pitchFamily="18" charset="0"/>
              <a:ea typeface="Cambria" panose="02040503050406030204" pitchFamily="18" charset="0"/>
            </a:endParaRPr>
          </a:p>
          <a:p>
            <a:pPr marL="0" indent="0" algn="just">
              <a:lnSpc>
                <a:spcPct val="160000"/>
              </a:lnSpc>
              <a:buNone/>
            </a:pPr>
            <a:endParaRPr lang="en-US" b="1"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gn="just">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a:xfrm>
            <a:off x="812800" y="949818"/>
            <a:ext cx="10668000" cy="5167647"/>
          </a:xfrm>
        </p:spPr>
        <p:txBody>
          <a:bodyPr>
            <a:normAutofit fontScale="92500" lnSpcReduction="10000"/>
          </a:bodyPr>
          <a:lstStyle/>
          <a:p>
            <a:pPr marL="0" indent="0" algn="ctr">
              <a:lnSpc>
                <a:spcPct val="170000"/>
              </a:lnSpc>
              <a:buNone/>
            </a:pPr>
            <a:r>
              <a:rPr lang="en-US" sz="3200" b="1" u="sng" dirty="0" smtClean="0">
                <a:latin typeface="Cambria" panose="02040503050406030204" pitchFamily="18" charset="0"/>
                <a:ea typeface="Cambria" panose="02040503050406030204" pitchFamily="18" charset="0"/>
              </a:rPr>
              <a:t>“Attention </a:t>
            </a:r>
            <a:r>
              <a:rPr lang="en-US" sz="3200" b="1" u="sng" dirty="0">
                <a:latin typeface="Cambria" panose="02040503050406030204" pitchFamily="18" charset="0"/>
                <a:ea typeface="Cambria" panose="02040503050406030204" pitchFamily="18" charset="0"/>
              </a:rPr>
              <a:t>is All You </a:t>
            </a:r>
            <a:r>
              <a:rPr lang="en-US" sz="3200" b="1" u="sng" dirty="0" smtClean="0">
                <a:latin typeface="Cambria" panose="02040503050406030204" pitchFamily="18" charset="0"/>
                <a:ea typeface="Cambria" panose="02040503050406030204" pitchFamily="18" charset="0"/>
              </a:rPr>
              <a:t>Need.”</a:t>
            </a:r>
          </a:p>
          <a:p>
            <a:pPr algn="just">
              <a:lnSpc>
                <a:spcPct val="17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Vaswani</a:t>
            </a:r>
            <a:r>
              <a:rPr lang="en-IN" dirty="0">
                <a:latin typeface="Cambria" panose="02040503050406030204" pitchFamily="18" charset="0"/>
                <a:ea typeface="Cambria" panose="02040503050406030204" pitchFamily="18" charset="0"/>
              </a:rPr>
              <a:t>, A., </a:t>
            </a:r>
            <a:r>
              <a:rPr lang="en-IN" dirty="0" err="1">
                <a:latin typeface="Cambria" panose="02040503050406030204" pitchFamily="18" charset="0"/>
                <a:ea typeface="Cambria" panose="02040503050406030204" pitchFamily="18" charset="0"/>
              </a:rPr>
              <a:t>Shazeer</a:t>
            </a:r>
            <a:r>
              <a:rPr lang="en-IN" dirty="0">
                <a:latin typeface="Cambria" panose="02040503050406030204" pitchFamily="18" charset="0"/>
                <a:ea typeface="Cambria" panose="02040503050406030204" pitchFamily="18" charset="0"/>
              </a:rPr>
              <a:t>, N., </a:t>
            </a:r>
            <a:r>
              <a:rPr lang="en-IN" dirty="0" err="1">
                <a:latin typeface="Cambria" panose="02040503050406030204" pitchFamily="18" charset="0"/>
                <a:ea typeface="Cambria" panose="02040503050406030204" pitchFamily="18" charset="0"/>
              </a:rPr>
              <a:t>Parmar</a:t>
            </a:r>
            <a:r>
              <a:rPr lang="en-IN" dirty="0">
                <a:latin typeface="Cambria" panose="02040503050406030204" pitchFamily="18" charset="0"/>
                <a:ea typeface="Cambria" panose="02040503050406030204" pitchFamily="18" charset="0"/>
              </a:rPr>
              <a:t>, N., et al</a:t>
            </a:r>
            <a:r>
              <a:rPr lang="en-IN" dirty="0" smtClean="0">
                <a:latin typeface="Cambria" panose="02040503050406030204" pitchFamily="18" charset="0"/>
                <a:ea typeface="Cambria" panose="02040503050406030204" pitchFamily="18" charset="0"/>
              </a:rPr>
              <a:t>.</a:t>
            </a:r>
          </a:p>
          <a:p>
            <a:pPr algn="just">
              <a:buFont typeface="Wingdings" panose="05000000000000000000" pitchFamily="2" charset="2"/>
              <a:buChar char="Ø"/>
            </a:pPr>
            <a:r>
              <a:rPr lang="en-US" b="1" dirty="0">
                <a:latin typeface="Cambria" panose="02040503050406030204" pitchFamily="18" charset="0"/>
                <a:ea typeface="Cambria" panose="02040503050406030204" pitchFamily="18" charset="0"/>
              </a:rPr>
              <a:t>Algorithm Used</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Transformer </a:t>
            </a:r>
            <a:r>
              <a:rPr lang="en-US" b="1" dirty="0">
                <a:latin typeface="Cambria" panose="02040503050406030204" pitchFamily="18" charset="0"/>
                <a:ea typeface="Cambria" panose="02040503050406030204" pitchFamily="18" charset="0"/>
              </a:rPr>
              <a:t>Architecture</a:t>
            </a:r>
            <a:r>
              <a:rPr lang="en-US" dirty="0">
                <a:latin typeface="Cambria" panose="02040503050406030204" pitchFamily="18" charset="0"/>
                <a:ea typeface="Cambria" panose="02040503050406030204" pitchFamily="18" charset="0"/>
              </a:rPr>
              <a:t>: Introduces the transformer model based purely on attention mechanisms, eliminating the need for recurrent layers. The core concept is the </a:t>
            </a:r>
            <a:r>
              <a:rPr lang="en-US" b="1" dirty="0">
                <a:latin typeface="Cambria" panose="02040503050406030204" pitchFamily="18" charset="0"/>
                <a:ea typeface="Cambria" panose="02040503050406030204" pitchFamily="18" charset="0"/>
              </a:rPr>
              <a:t>self-attention</a:t>
            </a:r>
            <a:r>
              <a:rPr lang="en-US" dirty="0">
                <a:latin typeface="Cambria" panose="02040503050406030204" pitchFamily="18" charset="0"/>
                <a:ea typeface="Cambria" panose="02040503050406030204" pitchFamily="18" charset="0"/>
              </a:rPr>
              <a:t> mechanism, which enables the model to focus on different parts of the input sequence dynamically.</a:t>
            </a:r>
          </a:p>
          <a:p>
            <a:pPr algn="just">
              <a:buFont typeface="Wingdings" panose="05000000000000000000" pitchFamily="2" charset="2"/>
              <a:buChar char="Ø"/>
            </a:pPr>
            <a:r>
              <a:rPr lang="en-US" b="1" dirty="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Scalability</a:t>
            </a:r>
            <a:r>
              <a:rPr lang="en-US" dirty="0">
                <a:latin typeface="Cambria" panose="02040503050406030204" pitchFamily="18" charset="0"/>
                <a:ea typeface="Cambria" panose="02040503050406030204" pitchFamily="18" charset="0"/>
              </a:rPr>
              <a:t>: Transformers have quadratic complexity with respect to sequence length due to the self-attention mechanism, making them computationally expensive for long sequences.</a:t>
            </a:r>
          </a:p>
          <a:p>
            <a:pPr algn="just"/>
            <a:r>
              <a:rPr lang="en-US" b="1" dirty="0">
                <a:latin typeface="Cambria" panose="02040503050406030204" pitchFamily="18" charset="0"/>
                <a:ea typeface="Cambria" panose="02040503050406030204" pitchFamily="18" charset="0"/>
              </a:rPr>
              <a:t>Memory Consumption</a:t>
            </a:r>
            <a:r>
              <a:rPr lang="en-US" dirty="0">
                <a:latin typeface="Cambria" panose="02040503050406030204" pitchFamily="18" charset="0"/>
                <a:ea typeface="Cambria" panose="02040503050406030204" pitchFamily="18" charset="0"/>
              </a:rPr>
              <a:t>: The self-attention mechanism consumes large amounts of memory, especially for long input sequences.</a:t>
            </a: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061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p:txBody>
          <a:bodyPr>
            <a:normAutofit fontScale="92500" lnSpcReduction="20000"/>
          </a:bodyPr>
          <a:lstStyle/>
          <a:p>
            <a:pPr marL="0" indent="0" algn="ctr">
              <a:lnSpc>
                <a:spcPct val="170000"/>
              </a:lnSpc>
              <a:buNone/>
            </a:pPr>
            <a:r>
              <a:rPr lang="en-US" sz="3200" b="1" u="sng" dirty="0" smtClean="0">
                <a:latin typeface="Cambria" panose="02040503050406030204" pitchFamily="18" charset="0"/>
                <a:ea typeface="Cambria" panose="02040503050406030204" pitchFamily="18" charset="0"/>
              </a:rPr>
              <a:t>“BERT</a:t>
            </a:r>
            <a:r>
              <a:rPr lang="en-US" sz="3200" b="1" u="sng" dirty="0">
                <a:latin typeface="Cambria" panose="02040503050406030204" pitchFamily="18" charset="0"/>
                <a:ea typeface="Cambria" panose="02040503050406030204" pitchFamily="18" charset="0"/>
              </a:rPr>
              <a:t>: Pre-training of Deep Bidirectional Transformers for Language </a:t>
            </a:r>
            <a:r>
              <a:rPr lang="en-US" sz="3200" b="1" u="sng" dirty="0" smtClean="0">
                <a:latin typeface="Cambria" panose="02040503050406030204" pitchFamily="18" charset="0"/>
                <a:ea typeface="Cambria" panose="02040503050406030204" pitchFamily="18" charset="0"/>
              </a:rPr>
              <a:t>Understanding.”</a:t>
            </a:r>
          </a:p>
          <a:p>
            <a:pPr algn="just">
              <a:lnSpc>
                <a:spcPct val="17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Devlin</a:t>
            </a:r>
            <a:r>
              <a:rPr lang="fr-FR" dirty="0">
                <a:latin typeface="Cambria" panose="02040503050406030204" pitchFamily="18" charset="0"/>
                <a:ea typeface="Cambria" panose="02040503050406030204" pitchFamily="18" charset="0"/>
              </a:rPr>
              <a:t>, J., Chang, M. W., Lee, K., &amp; </a:t>
            </a:r>
            <a:r>
              <a:rPr lang="fr-FR" dirty="0" err="1">
                <a:latin typeface="Cambria" panose="02040503050406030204" pitchFamily="18" charset="0"/>
                <a:ea typeface="Cambria" panose="02040503050406030204" pitchFamily="18" charset="0"/>
              </a:rPr>
              <a:t>Toutanova</a:t>
            </a:r>
            <a:r>
              <a:rPr lang="fr-FR" dirty="0">
                <a:latin typeface="Cambria" panose="02040503050406030204" pitchFamily="18" charset="0"/>
                <a:ea typeface="Cambria" panose="02040503050406030204" pitchFamily="18" charset="0"/>
              </a:rPr>
              <a:t>, K</a:t>
            </a:r>
            <a:r>
              <a:rPr lang="fr-FR" dirty="0" smtClean="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rPr>
              <a:t>Algorithm Used</a:t>
            </a:r>
            <a:r>
              <a:rPr lang="en-US" dirty="0" smtClean="0">
                <a:latin typeface="Cambria" panose="02040503050406030204" pitchFamily="18" charset="0"/>
                <a:ea typeface="Cambria" panose="02040503050406030204" pitchFamily="18" charset="0"/>
              </a:rPr>
              <a:t>:</a:t>
            </a:r>
          </a:p>
          <a:p>
            <a:r>
              <a:rPr lang="en-US" b="1" dirty="0" smtClean="0">
                <a:latin typeface="Cambria" panose="02040503050406030204" pitchFamily="18" charset="0"/>
                <a:ea typeface="Cambria" panose="02040503050406030204" pitchFamily="18" charset="0"/>
              </a:rPr>
              <a:t>BERT </a:t>
            </a:r>
            <a:r>
              <a:rPr lang="en-US" b="1" dirty="0">
                <a:latin typeface="Cambria" panose="02040503050406030204" pitchFamily="18" charset="0"/>
                <a:ea typeface="Cambria" panose="02040503050406030204" pitchFamily="18" charset="0"/>
              </a:rPr>
              <a:t>(Bidirectional Encoder Representations from Transformers)</a:t>
            </a:r>
            <a:r>
              <a:rPr lang="en-US" dirty="0">
                <a:latin typeface="Cambria" panose="02040503050406030204" pitchFamily="18" charset="0"/>
                <a:ea typeface="Cambria" panose="02040503050406030204" pitchFamily="18" charset="0"/>
              </a:rPr>
              <a:t>: A pre-trained language model using bidirectional transformers that capture context from both directions of a sentence.</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r>
              <a:rPr lang="en-US" b="1" dirty="0" smtClean="0">
                <a:latin typeface="Cambria" panose="02040503050406030204" pitchFamily="18" charset="0"/>
                <a:ea typeface="Cambria" panose="02040503050406030204" pitchFamily="18" charset="0"/>
              </a:rPr>
              <a:t>Computational </a:t>
            </a:r>
            <a:r>
              <a:rPr lang="en-US" b="1" dirty="0">
                <a:latin typeface="Cambria" panose="02040503050406030204" pitchFamily="18" charset="0"/>
                <a:ea typeface="Cambria" panose="02040503050406030204" pitchFamily="18" charset="0"/>
              </a:rPr>
              <a:t>Cost</a:t>
            </a:r>
            <a:r>
              <a:rPr lang="en-US" dirty="0">
                <a:latin typeface="Cambria" panose="02040503050406030204" pitchFamily="18" charset="0"/>
                <a:ea typeface="Cambria" panose="02040503050406030204" pitchFamily="18" charset="0"/>
              </a:rPr>
              <a:t>: Fine-tuning BERT on specific tasks requires a lot of computational resources, including GPUs or TPUs.</a:t>
            </a:r>
          </a:p>
          <a:p>
            <a:r>
              <a:rPr lang="en-US" b="1" dirty="0">
                <a:latin typeface="Cambria" panose="02040503050406030204" pitchFamily="18" charset="0"/>
                <a:ea typeface="Cambria" panose="02040503050406030204" pitchFamily="18" charset="0"/>
              </a:rPr>
              <a:t>Inference Speed</a:t>
            </a:r>
            <a:r>
              <a:rPr lang="en-US" dirty="0">
                <a:latin typeface="Cambria" panose="02040503050406030204" pitchFamily="18" charset="0"/>
                <a:ea typeface="Cambria" panose="02040503050406030204" pitchFamily="18" charset="0"/>
              </a:rPr>
              <a:t>: BERT models are slow during inference due to their deep layers and the bidirectional nature of their architecture.</a:t>
            </a:r>
          </a:p>
          <a:p>
            <a:pPr marL="0" indent="0">
              <a:lnSpc>
                <a:spcPct val="160000"/>
              </a:lnSpc>
              <a:buNone/>
            </a:pPr>
            <a:endParaRPr lang="en-US" b="1" dirty="0">
              <a:latin typeface="Cambria" panose="02040503050406030204" pitchFamily="18" charset="0"/>
              <a:ea typeface="Cambria" panose="02040503050406030204" pitchFamily="18" charset="0"/>
            </a:endParaRP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43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591458-3602-B88D-69F2-536F2B2C1F17}"/>
              </a:ext>
            </a:extLst>
          </p:cNvPr>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Existing method Drawback</a:t>
            </a:r>
            <a:endParaRPr lang="en-IN"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 xmlns:a16="http://schemas.microsoft.com/office/drawing/2014/main" id="{6B8BBEEA-9AE3-9AD1-DBF4-A2CC98EF1B9B}"/>
              </a:ext>
            </a:extLst>
          </p:cNvPr>
          <p:cNvSpPr>
            <a:spLocks noGrp="1"/>
          </p:cNvSpPr>
          <p:nvPr>
            <p:ph idx="1"/>
          </p:nvPr>
        </p:nvSpPr>
        <p:spPr/>
        <p:txBody>
          <a:bodyPr>
            <a:normAutofit lnSpcReduction="10000"/>
          </a:bodyPr>
          <a:lstStyle/>
          <a:p>
            <a:pPr algn="just">
              <a:lnSpc>
                <a:spcPct val="150000"/>
              </a:lnSpc>
            </a:pPr>
            <a:r>
              <a:rPr lang="en-US" b="1" dirty="0">
                <a:latin typeface="Cambria" panose="02040503050406030204" pitchFamily="18" charset="0"/>
                <a:ea typeface="Cambria" panose="02040503050406030204" pitchFamily="18" charset="0"/>
              </a:rPr>
              <a:t>Manual Analysis</a:t>
            </a:r>
            <a:r>
              <a:rPr lang="en-US" dirty="0">
                <a:latin typeface="Cambria" panose="02040503050406030204" pitchFamily="18" charset="0"/>
                <a:ea typeface="Cambria" panose="02040503050406030204" pitchFamily="18" charset="0"/>
              </a:rPr>
              <a:t>: Traditional methods for detecting causal relationships in financial disclosures rely heavily on manual analysis, which is time-consuming, error-prone, and inefficient for large datasets</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Rule-Based Systems</a:t>
            </a:r>
            <a:r>
              <a:rPr lang="en-US" dirty="0">
                <a:latin typeface="Cambria" panose="02040503050406030204" pitchFamily="18" charset="0"/>
                <a:ea typeface="Cambria" panose="02040503050406030204" pitchFamily="18" charset="0"/>
              </a:rPr>
              <a:t>: Previous rule-based approaches lacked flexibility and often failed to capture complex relationships, especially in languages with nuanced syntax like Spanish</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Monolingual Focus</a:t>
            </a:r>
            <a:r>
              <a:rPr lang="en-US" dirty="0">
                <a:latin typeface="Cambria" panose="02040503050406030204" pitchFamily="18" charset="0"/>
                <a:ea typeface="Cambria" panose="02040503050406030204" pitchFamily="18" charset="0"/>
              </a:rPr>
              <a:t>: Many systems focus solely on English, leaving a gap in multilingual financial analysis, especially for regions with other languages like Spanish.</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7666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ambria" panose="02040503050406030204" pitchFamily="18" charset="0"/>
                <a:ea typeface="Cambria" panose="02040503050406030204" pitchFamily="18" charset="0"/>
              </a:rPr>
              <a:t>Proposed Method</a:t>
            </a:r>
            <a:endParaRPr lang="en-GB" dirty="0">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722648" y="1056069"/>
            <a:ext cx="10668000" cy="5068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Data Preprocessing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Collect and clean financial disclosure documents in English and Spanish, focusing on aligning bilingual data and removing noise.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Hybrid QA Approach</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Combine </a:t>
            </a: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extractive QA</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(using models like BERT) to find specific causal statements with </a:t>
            </a: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generative QA</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(using models like GPT) for generating nuanced causal explanations.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Causal Relation Detection</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Use NLP techniques to detect causal cues (e.g., "because," "due to") and financial impact within the disclosures.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Fine-Tuning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Fine-tune the models on financial datasets for better understanding of domain-specific causal relationships.</a:t>
            </a:r>
          </a:p>
        </p:txBody>
      </p:sp>
    </p:spTree>
    <p:extLst>
      <p:ext uri="{BB962C8B-B14F-4D97-AF65-F5344CB8AC3E}">
        <p14:creationId xmlns:p14="http://schemas.microsoft.com/office/powerpoint/2010/main" val="265961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Objectives</a:t>
            </a:r>
          </a:p>
        </p:txBody>
      </p:sp>
      <p:sp>
        <p:nvSpPr>
          <p:cNvPr id="5" name="Rectangle 2"/>
          <p:cNvSpPr>
            <a:spLocks noGrp="1" noChangeArrowheads="1"/>
          </p:cNvSpPr>
          <p:nvPr>
            <p:ph idx="1"/>
          </p:nvPr>
        </p:nvSpPr>
        <p:spPr bwMode="auto">
          <a:xfrm>
            <a:off x="709770" y="374386"/>
            <a:ext cx="10198636" cy="5563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Develop a hybrid QA system that detects causal relationships from financial disclosures using extractive and generative models.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Ensure the system works for both English and Spanish languages.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Automate the analysis of financial disclosures to reduce manual effort and improve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Provide both verbatim extractive answers and creative generative answers for complex causal relationships.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Improve scalability by enabling the system to analyze large datasets efficiently. </a:t>
            </a:r>
          </a:p>
        </p:txBody>
      </p:sp>
    </p:spTree>
    <p:extLst>
      <p:ext uri="{BB962C8B-B14F-4D97-AF65-F5344CB8AC3E}">
        <p14:creationId xmlns:p14="http://schemas.microsoft.com/office/powerpoint/2010/main" val="266672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Methodology/Modules</a:t>
            </a:r>
          </a:p>
        </p:txBody>
      </p:sp>
      <p:sp>
        <p:nvSpPr>
          <p:cNvPr id="10" name="Rectangle 4"/>
          <p:cNvSpPr>
            <a:spLocks noGrp="1" noChangeArrowheads="1"/>
          </p:cNvSpPr>
          <p:nvPr>
            <p:ph idx="1"/>
          </p:nvPr>
        </p:nvSpPr>
        <p:spPr bwMode="auto">
          <a:xfrm>
            <a:off x="636105" y="965961"/>
            <a:ext cx="11211338"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Text Preprocessing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SpaCy</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to tokenize and clean the input text.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Preprocess input context based on language selection (English or Spanish).</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Extractive QA</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RoBERTa</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deepset</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/roberta-base-squad2)</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extractive question-answering to find exact matches from the context.</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Generative QA</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GPT-2</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to generate creative answers for questions that require abstract inferences.</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Hybrid Approach</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Combine the extractive and generative answers to provide a complete understanding of the causal relationship.</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55A156-B1FC-CA07-89DA-0BCF63C14900}"/>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Architecture</a:t>
            </a:r>
            <a:endParaRPr lang="en-IN"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 xmlns:a16="http://schemas.microsoft.com/office/drawing/2014/main" id="{E247C48A-A695-CEA8-2CD0-BD39108BAB2F}"/>
              </a:ext>
            </a:extLst>
          </p:cNvPr>
          <p:cNvSpPr>
            <a:spLocks noGrp="1"/>
          </p:cNvSpPr>
          <p:nvPr>
            <p:ph idx="1"/>
          </p:nvPr>
        </p:nvSpPr>
        <p:spPr/>
        <p:txBody>
          <a:bodyPr>
            <a:normAutofit fontScale="92500"/>
          </a:bodyPr>
          <a:lstStyle/>
          <a:p>
            <a:pPr marL="0" indent="0" algn="just">
              <a:lnSpc>
                <a:spcPct val="150000"/>
              </a:lnSpc>
              <a:buNone/>
            </a:pPr>
            <a:r>
              <a:rPr lang="en-US" b="1" dirty="0">
                <a:latin typeface="Cambria" panose="02040503050406030204" pitchFamily="18" charset="0"/>
                <a:ea typeface="Cambria" panose="02040503050406030204" pitchFamily="18" charset="0"/>
              </a:rPr>
              <a:t>User Interface</a:t>
            </a: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Users input financial documents and ask questions via a web interface.</a:t>
            </a:r>
          </a:p>
          <a:p>
            <a:pPr algn="just">
              <a:lnSpc>
                <a:spcPct val="150000"/>
              </a:lnSpc>
            </a:pPr>
            <a:r>
              <a:rPr lang="en-US" dirty="0">
                <a:latin typeface="Cambria" panose="02040503050406030204" pitchFamily="18" charset="0"/>
                <a:ea typeface="Cambria" panose="02040503050406030204" pitchFamily="18" charset="0"/>
              </a:rPr>
              <a:t>Choose language (English/Spanish).</a:t>
            </a:r>
          </a:p>
          <a:p>
            <a:pPr marL="0" indent="0" algn="just">
              <a:lnSpc>
                <a:spcPct val="150000"/>
              </a:lnSpc>
              <a:buNone/>
            </a:pPr>
            <a:r>
              <a:rPr lang="en-US" b="1" dirty="0">
                <a:latin typeface="Cambria" panose="02040503050406030204" pitchFamily="18" charset="0"/>
                <a:ea typeface="Cambria" panose="02040503050406030204" pitchFamily="18" charset="0"/>
              </a:rPr>
              <a:t>Preprocessing Module</a:t>
            </a: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Preprocesses text using </a:t>
            </a:r>
            <a:r>
              <a:rPr lang="en-US" dirty="0" err="1">
                <a:latin typeface="Cambria" panose="02040503050406030204" pitchFamily="18" charset="0"/>
                <a:ea typeface="Cambria" panose="02040503050406030204" pitchFamily="18" charset="0"/>
              </a:rPr>
              <a:t>SpaCy</a:t>
            </a:r>
            <a:r>
              <a:rPr lang="en-US" dirty="0">
                <a:latin typeface="Cambria" panose="02040503050406030204" pitchFamily="18" charset="0"/>
                <a:ea typeface="Cambria" panose="02040503050406030204" pitchFamily="18" charset="0"/>
              </a:rPr>
              <a:t> for tokenization and language-specific cleaning.</a:t>
            </a:r>
          </a:p>
          <a:p>
            <a:pPr marL="0" indent="0" algn="just">
              <a:lnSpc>
                <a:spcPct val="150000"/>
              </a:lnSpc>
              <a:buNone/>
            </a:pPr>
            <a:r>
              <a:rPr lang="en-US" b="1" dirty="0">
                <a:latin typeface="Cambria" panose="02040503050406030204" pitchFamily="18" charset="0"/>
                <a:ea typeface="Cambria" panose="02040503050406030204" pitchFamily="18" charset="0"/>
              </a:rPr>
              <a:t>QA System</a:t>
            </a:r>
            <a:r>
              <a:rPr lang="en-US" dirty="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Extractive QA</a:t>
            </a:r>
            <a:r>
              <a:rPr lang="en-US" dirty="0">
                <a:latin typeface="Cambria" panose="02040503050406030204" pitchFamily="18" charset="0"/>
                <a:ea typeface="Cambria" panose="02040503050406030204" pitchFamily="18" charset="0"/>
              </a:rPr>
              <a:t>: Uses </a:t>
            </a:r>
            <a:r>
              <a:rPr lang="en-US"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to extract exact answers from the text.</a:t>
            </a:r>
          </a:p>
          <a:p>
            <a:pPr algn="just">
              <a:lnSpc>
                <a:spcPct val="150000"/>
              </a:lnSpc>
            </a:pPr>
            <a:r>
              <a:rPr lang="en-US" b="1" dirty="0">
                <a:latin typeface="Cambria" panose="02040503050406030204" pitchFamily="18" charset="0"/>
                <a:ea typeface="Cambria" panose="02040503050406030204" pitchFamily="18" charset="0"/>
              </a:rPr>
              <a:t>Generative QA</a:t>
            </a:r>
            <a:r>
              <a:rPr lang="en-US" dirty="0">
                <a:latin typeface="Cambria" panose="02040503050406030204" pitchFamily="18" charset="0"/>
                <a:ea typeface="Cambria" panose="02040503050406030204" pitchFamily="18" charset="0"/>
              </a:rPr>
              <a:t>: Uses GPT-2 to generate creative answers.</a:t>
            </a:r>
          </a:p>
        </p:txBody>
      </p:sp>
    </p:spTree>
    <p:extLst>
      <p:ext uri="{BB962C8B-B14F-4D97-AF65-F5344CB8AC3E}">
        <p14:creationId xmlns:p14="http://schemas.microsoft.com/office/powerpoint/2010/main" val="593898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1B97FD-7A7C-F5A7-82F8-E665F49E37A5}"/>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Hardware/software components</a:t>
            </a:r>
            <a:endParaRPr lang="en-IN" dirty="0">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812800" y="849512"/>
            <a:ext cx="7731219"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Hardware</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CPU: 2.4 GHz (Quad-Core or higher)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Memory: Minimum 16GB RAM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Disk: Minimum 256GB SSD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GPU (Optional for faster inference): NVIDIA GPU with CUDA support</a:t>
            </a:r>
          </a:p>
          <a:p>
            <a:pPr marL="0" marR="0" lvl="0" indent="0" algn="l"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Software</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Python 3.x</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Django</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3.x</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PyTorch</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deep learning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SpaCy</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text preprocessing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Hugging Face’s transformers library for QA models</a:t>
            </a:r>
          </a:p>
        </p:txBody>
      </p:sp>
    </p:spTree>
    <p:extLst>
      <p:ext uri="{BB962C8B-B14F-4D97-AF65-F5344CB8AC3E}">
        <p14:creationId xmlns:p14="http://schemas.microsoft.com/office/powerpoint/2010/main" val="82555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Project</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314" y="1143000"/>
            <a:ext cx="8134971" cy="4953000"/>
          </a:xfrm>
        </p:spPr>
      </p:pic>
    </p:spTree>
    <p:extLst>
      <p:ext uri="{BB962C8B-B14F-4D97-AF65-F5344CB8AC3E}">
        <p14:creationId xmlns:p14="http://schemas.microsoft.com/office/powerpoint/2010/main" val="3677332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Expected Outcomes</a:t>
            </a:r>
          </a:p>
        </p:txBody>
      </p:sp>
      <p:sp>
        <p:nvSpPr>
          <p:cNvPr id="3" name="Content Placeholder 2"/>
          <p:cNvSpPr>
            <a:spLocks noGrp="1"/>
          </p:cNvSpPr>
          <p:nvPr>
            <p:ph idx="1"/>
          </p:nvPr>
        </p:nvSpPr>
        <p:spPr/>
        <p:txBody>
          <a:bodyPr>
            <a:normAutofit/>
          </a:bodyPr>
          <a:lstStyle/>
          <a:p>
            <a:pPr algn="just">
              <a:lnSpc>
                <a:spcPct val="150000"/>
              </a:lnSpc>
            </a:pPr>
            <a:r>
              <a:rPr lang="en-US" b="1" dirty="0">
                <a:latin typeface="Cambria" panose="02040503050406030204" pitchFamily="18" charset="0"/>
                <a:ea typeface="Cambria" panose="02040503050406030204" pitchFamily="18" charset="0"/>
              </a:rPr>
              <a:t>Improved Efficiency</a:t>
            </a:r>
            <a:r>
              <a:rPr lang="en-US" dirty="0">
                <a:latin typeface="Cambria" panose="02040503050406030204" pitchFamily="18" charset="0"/>
                <a:ea typeface="Cambria" panose="02040503050406030204" pitchFamily="18" charset="0"/>
              </a:rPr>
              <a:t>: The system will automate financial causality detection, reducing manual effort</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Multilingual Support</a:t>
            </a:r>
            <a:r>
              <a:rPr lang="en-US" dirty="0">
                <a:latin typeface="Cambria" panose="02040503050406030204" pitchFamily="18" charset="0"/>
                <a:ea typeface="Cambria" panose="02040503050406030204" pitchFamily="18" charset="0"/>
              </a:rPr>
              <a:t>: Support for both English and Spanish will expand the system’s applicability in diverse markets</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Accurate Causal Detection</a:t>
            </a:r>
            <a:r>
              <a:rPr lang="en-US" dirty="0">
                <a:latin typeface="Cambria" panose="02040503050406030204" pitchFamily="18" charset="0"/>
                <a:ea typeface="Cambria" panose="02040503050406030204" pitchFamily="18" charset="0"/>
              </a:rPr>
              <a:t>: The hybrid approach will provide both accurate extractive answers and insightful generative answers</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Scalability</a:t>
            </a:r>
            <a:r>
              <a:rPr lang="en-US" dirty="0">
                <a:latin typeface="Cambria" panose="02040503050406030204" pitchFamily="18" charset="0"/>
                <a:ea typeface="Cambria" panose="02040503050406030204" pitchFamily="18" charset="0"/>
              </a:rPr>
              <a:t>: The system will be capable of analyzing large financial datasets efficiently, making it suitable for enterprise-level applications.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3928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Conclusion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latin typeface="Cambria" panose="02040503050406030204" pitchFamily="18" charset="0"/>
                <a:ea typeface="Cambria" panose="02040503050406030204" pitchFamily="18" charset="0"/>
              </a:rPr>
              <a:t>The proposed financial causality detection system offers an innovative hybrid QA approach that combines extractive and generative models to uncover cause-effect relationships in financial disclosures. By leveraging state-of-the-art NLP techniques like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the system provides both exact and creative insights into financial data, making it a valuable tool for businesses, regulators, and financial analysts. The solution’s multilingual capability further enhances its usability across different regions and languages, making it a comprehensive solution for financial analysis.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https://github.com/Project-CEI09/Batch_09/projects?query=is%3Aopen</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a:t>
            </a:r>
          </a:p>
        </p:txBody>
      </p:sp>
      <p:sp>
        <p:nvSpPr>
          <p:cNvPr id="5" name="Rectangle 2"/>
          <p:cNvSpPr>
            <a:spLocks noGrp="1" noChangeArrowheads="1"/>
          </p:cNvSpPr>
          <p:nvPr>
            <p:ph idx="1"/>
          </p:nvPr>
        </p:nvSpPr>
        <p:spPr bwMode="auto">
          <a:xfrm>
            <a:off x="682580" y="1065565"/>
            <a:ext cx="10798220" cy="5107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Goodfellow, I.,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Bengio</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Y.,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Courville</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 (2016).</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Deep Learning. MIT Press.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Vaswani</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Shazeer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N.,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Parmar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N., et al. (2017).</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Attention is All You Need. Advances in Neural Information Processing Systems, 30, 5998-6008.</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Devlin, J., Chang, M. W., Lee, K.,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Toutanova</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K. (2019).</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BERT: Pre-training of Deep Bidirectional Transformers for Language Understanding. NAACL-HLT.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Radford, A., Wu, J., Child, R., Luan, D.,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Amodei</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D.,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Sutskever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I. (2019).</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Language Models are Unsupervised Multitask Learners. </a:t>
            </a:r>
            <a:r>
              <a:rPr kumimoji="0" lang="en-US" sz="22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OpenAI</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Blog.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Rajpurkar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Jia</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R., Liang, P. (2018).</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Know What You Don't Know: Unanswerable Questions for </a:t>
            </a:r>
            <a:r>
              <a:rPr kumimoji="0" lang="en-US" sz="22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SQuAD</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Proceedings of the 56th Annual Meeting of the Association for Computational Linguistics. </a:t>
            </a:r>
          </a:p>
        </p:txBody>
      </p:sp>
    </p:spTree>
    <p:extLst>
      <p:ext uri="{BB962C8B-B14F-4D97-AF65-F5344CB8AC3E}">
        <p14:creationId xmlns:p14="http://schemas.microsoft.com/office/powerpoint/2010/main" val="3613863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338A02-66E7-D4A9-0B63-EC7A4969F9A5}"/>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Project work mapping with SDG</a:t>
            </a:r>
            <a:endParaRPr lang="en-IN" dirty="0">
              <a:latin typeface="Cambria" panose="02040503050406030204" pitchFamily="18" charset="0"/>
              <a:ea typeface="Cambria" panose="02040503050406030204" pitchFamily="18" charset="0"/>
            </a:endParaRPr>
          </a:p>
        </p:txBody>
      </p:sp>
      <p:sp>
        <p:nvSpPr>
          <p:cNvPr id="4" name="AutoShape 2" descr="Image preview">
            <a:extLst>
              <a:ext uri="{FF2B5EF4-FFF2-40B4-BE49-F238E27FC236}">
                <a16:creationId xmlns=""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 xmlns:a16="http://schemas.microsoft.com/office/drawing/2014/main" id="{90DEF78C-A0C4-EB04-02C4-4052E05259EB}"/>
              </a:ext>
            </a:extLst>
          </p:cNvPr>
          <p:cNvPicPr>
            <a:picLocks noChangeAspect="1"/>
          </p:cNvPicPr>
          <p:nvPr/>
        </p:nvPicPr>
        <p:blipFill>
          <a:blip r:embed="rId2"/>
          <a:stretch>
            <a:fillRect/>
          </a:stretch>
        </p:blipFill>
        <p:spPr>
          <a:xfrm>
            <a:off x="2537139" y="1030310"/>
            <a:ext cx="6497848" cy="5203066"/>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270</TotalTime>
  <Words>1354</Words>
  <Application>Microsoft Office PowerPoint</Application>
  <PresentationFormat>Widescreen</PresentationFormat>
  <Paragraphs>125</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Cambria</vt:lpstr>
      <vt:lpstr>Verdana</vt:lpstr>
      <vt:lpstr>Wingdings</vt:lpstr>
      <vt:lpstr>Bioinformatics</vt:lpstr>
      <vt:lpstr>Financial Causality Detection </vt:lpstr>
      <vt:lpstr>Introduction</vt:lpstr>
      <vt:lpstr>Literature Review</vt:lpstr>
      <vt:lpstr>Literature Review</vt:lpstr>
      <vt:lpstr>Literature Review</vt:lpstr>
      <vt:lpstr>Existing method Drawback</vt:lpstr>
      <vt:lpstr>Proposed Method</vt:lpstr>
      <vt:lpstr>Objectives</vt:lpstr>
      <vt:lpstr>Methodology/Modules</vt:lpstr>
      <vt:lpstr>Architecture</vt:lpstr>
      <vt:lpstr>Hardware/software components</vt:lpstr>
      <vt:lpstr>Timeline of Project</vt:lpstr>
      <vt:lpstr>Expected Outcomes</vt:lpstr>
      <vt:lpstr>Conclusion</vt:lpstr>
      <vt:lpstr>Github Link</vt:lpstr>
      <vt:lpstr>References</vt:lpstr>
      <vt:lpstr>Project work mapping with SDG</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Vinusha Guranavar</cp:lastModifiedBy>
  <cp:revision>33</cp:revision>
  <dcterms:created xsi:type="dcterms:W3CDTF">2023-03-16T03:26:27Z</dcterms:created>
  <dcterms:modified xsi:type="dcterms:W3CDTF">2025-01-09T08:53:39Z</dcterms:modified>
</cp:coreProperties>
</file>