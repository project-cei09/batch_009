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58" r:id="rId4"/>
    <p:sldId id="279" r:id="rId5"/>
    <p:sldId id="280" r:id="rId6"/>
    <p:sldId id="281" r:id="rId7"/>
    <p:sldId id="259" r:id="rId8"/>
    <p:sldId id="260" r:id="rId9"/>
    <p:sldId id="261" r:id="rId10"/>
    <p:sldId id="282" r:id="rId11"/>
    <p:sldId id="275" r:id="rId12"/>
    <p:sldId id="277" r:id="rId13"/>
    <p:sldId id="262" r:id="rId14"/>
    <p:sldId id="263" r:id="rId15"/>
    <p:sldId id="264" r:id="rId16"/>
    <p:sldId id="265" r:id="rId17"/>
    <p:sldId id="274" r:id="rId18"/>
    <p:sldId id="26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74" d="100"/>
          <a:sy n="74" d="100"/>
        </p:scale>
        <p:origin x="55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AD288-E15B-4271-B55D-DDB1B43DC8BE}" type="datetimeFigureOut">
              <a:rPr lang="en-IN" smtClean="0"/>
              <a:t>09-01-2025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EC8B7-7AE0-485D-8CE3-A3E29B97A364}" type="slidenum">
              <a:rPr lang="en-IN" smtClean="0"/>
              <a:t>‹#›</a:t>
            </a:fld>
            <a:endParaRPr lang="en-IN"/>
          </a:p>
        </p:txBody>
      </p:sp>
    </p:spTree>
    <p:extLst>
      <p:ext uri="{BB962C8B-B14F-4D97-AF65-F5344CB8AC3E}">
        <p14:creationId xmlns:p14="http://schemas.microsoft.com/office/powerpoint/2010/main" val="1146367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t>09/01/2025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16799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09/01/2025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190914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94CE30-7D40-4BC0-BA0D-56C992D5B4BD}" type="datetimeFigureOut">
              <a:rPr lang="en-GB" smtClean="0"/>
              <a:t>09/01/2025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406418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4CE30-7D40-4BC0-BA0D-56C992D5B4BD}" type="datetimeFigureOut">
              <a:rPr lang="en-GB" smtClean="0"/>
              <a:t>09/01/2025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738786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4CE30-7D40-4BC0-BA0D-56C992D5B4BD}" type="datetimeFigureOut">
              <a:rPr lang="en-GB" smtClean="0"/>
              <a:t>09/01/2025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0163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4994CE30-7D40-4BC0-BA0D-56C992D5B4BD}" type="datetimeFigureOut">
              <a:rPr lang="en-GB" smtClean="0"/>
              <a:t>09/01/2025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t>‹#›</a:t>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022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t>09/01/2025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24971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09/01/2025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1521564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94CE30-7D40-4BC0-BA0D-56C992D5B4BD}" type="datetimeFigureOut">
              <a:rPr lang="en-GB" smtClean="0"/>
              <a:t>09/01/2025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3874595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09/01/2025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9626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4CE30-7D40-4BC0-BA0D-56C992D5B4BD}" type="datetimeFigureOut">
              <a:rPr lang="en-GB" smtClean="0"/>
              <a:t>09/01/2025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t>‹#›</a:t>
            </a:fld>
            <a:endParaRPr lang="en-GB"/>
          </a:p>
        </p:txBody>
      </p:sp>
    </p:spTree>
    <p:extLst>
      <p:ext uri="{BB962C8B-B14F-4D97-AF65-F5344CB8AC3E}">
        <p14:creationId xmlns:p14="http://schemas.microsoft.com/office/powerpoint/2010/main" val="287830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itchFamily="34" charset="0"/>
                <a:ea typeface="Verdana" pitchFamily="34" charset="0"/>
                <a:cs typeface="Verdana" pitchFamily="34" charset="0"/>
              </a:defRPr>
            </a:lvl1pPr>
          </a:lstStyle>
          <a:p>
            <a:fld id="{4994CE30-7D40-4BC0-BA0D-56C992D5B4BD}" type="datetimeFigureOut">
              <a:rPr lang="en-GB" smtClean="0"/>
              <a:t>09/01/2025</a:t>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itchFamily="34" charset="0"/>
                <a:ea typeface="Verdana" pitchFamily="34" charset="0"/>
                <a:cs typeface="Verdana"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itchFamily="34" charset="0"/>
                <a:ea typeface="Verdana" pitchFamily="34" charset="0"/>
                <a:cs typeface="Verdana" pitchFamily="34" charset="0"/>
              </a:defRPr>
            </a:lvl1pPr>
          </a:lstStyle>
          <a:p>
            <a:fld id="{1BCD3F7E-62B3-4FB9-95CE-D1B0CC271B85}" type="slidenum">
              <a:rPr lang="en-GB" smtClean="0"/>
              <a:t>‹#›</a:t>
            </a:fld>
            <a:endParaRPr lang="en-GB"/>
          </a:p>
        </p:txBody>
      </p:sp>
      <p:sp>
        <p:nvSpPr>
          <p:cNvPr id="8" name="Line 6">
            <a:extLst>
              <a:ext uri="{FF2B5EF4-FFF2-40B4-BE49-F238E27FC236}">
                <a16:creationId xmlns:a16="http://schemas.microsoft.com/office/drawing/2014/main" xmlns="" id="{3F0EAE8F-8B4C-436F-93E6-DF250930561C}"/>
              </a:ext>
            </a:extLst>
          </p:cNvPr>
          <p:cNvSpPr>
            <a:spLocks noChangeShapeType="1"/>
          </p:cNvSpPr>
          <p:nvPr/>
        </p:nvSpPr>
        <p:spPr bwMode="auto">
          <a:xfrm>
            <a:off x="812800" y="914400"/>
            <a:ext cx="10668000" cy="0"/>
          </a:xfrm>
          <a:prstGeom prst="line">
            <a:avLst/>
          </a:prstGeom>
          <a:noFill/>
          <a:ln w="57150" cmpd="thickThin">
            <a:solidFill>
              <a:schemeClr val="tx1"/>
            </a:solidFill>
            <a:round/>
            <a:headEnd/>
            <a:tailEnd/>
          </a:ln>
          <a:effectLst/>
        </p:spPr>
        <p:txBody>
          <a:bodyPr/>
          <a:lstStyle/>
          <a:p>
            <a:pPr>
              <a:defRPr/>
            </a:pPr>
            <a:endParaRPr lang="en-IN" sz="1800"/>
          </a:p>
        </p:txBody>
      </p:sp>
      <p:pic>
        <p:nvPicPr>
          <p:cNvPr id="7" name="Picture 7">
            <a:extLst>
              <a:ext uri="{FF2B5EF4-FFF2-40B4-BE49-F238E27FC236}">
                <a16:creationId xmlns:a16="http://schemas.microsoft.com/office/drawing/2014/main" xmlns="" id="{F5847C07-33FE-4652-A9FD-CD40E657B784}"/>
              </a:ext>
            </a:extLst>
          </p:cNvPr>
          <p:cNvPicPr>
            <a:picLocks noChangeAspect="1"/>
          </p:cNvPicPr>
          <p:nvPr/>
        </p:nvPicPr>
        <p:blipFill rotWithShape="1">
          <a:blip r:embed="rId13">
            <a:extLst>
              <a:ext uri="{28A0092B-C50C-407E-A947-70E740481C1C}">
                <a14:useLocalDpi xmlns:a14="http://schemas.microsoft.com/office/drawing/2010/main" val="0"/>
              </a:ext>
            </a:extLst>
          </a:blip>
          <a:srcRect b="18045"/>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8401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2800" b="1" kern="1200">
          <a:solidFill>
            <a:srgbClr val="FF0000"/>
          </a:solidFill>
          <a:latin typeface="Verdana" pitchFamily="34" charset="0"/>
          <a:ea typeface="Verdana" pitchFamily="34" charset="0"/>
          <a:cs typeface="Verdana"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Verdana" pitchFamily="34" charset="0"/>
          <a:ea typeface="Verdana" pitchFamily="34" charset="0"/>
          <a:cs typeface="Verdana" pitchFamily="34"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Verdana" pitchFamily="34" charset="0"/>
          <a:cs typeface="Verdana" pitchFamily="34"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Verdana" pitchFamily="34" charset="0"/>
          <a:cs typeface="Verdana" pitchFamily="34"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Verdana" pitchFamily="34" charset="0"/>
          <a:cs typeface="Verdan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16563"/>
            <a:ext cx="10363200" cy="962898"/>
          </a:xfrm>
          <a:prstGeom prst="rect">
            <a:avLst/>
          </a:prstGeom>
          <a:noFill/>
          <a:ln>
            <a:noFill/>
          </a:ln>
        </p:spPr>
        <p:txBody>
          <a:bodyPr spcFirstLastPara="1" wrap="square" lIns="91425" tIns="45700" rIns="91425" bIns="45700" anchor="ctr" anchorCtr="0">
            <a:noAutofit/>
          </a:bodyPr>
          <a:lstStyle/>
          <a:p>
            <a:pPr lvl="0" algn="ctr">
              <a:spcBef>
                <a:spcPts val="0"/>
              </a:spcBef>
              <a:buClr>
                <a:srgbClr val="17365D"/>
              </a:buClr>
              <a:buSzPts val="2800"/>
            </a:pPr>
            <a:r>
              <a:rPr lang="en-IN" dirty="0"/>
              <a:t>Financial Causality Detection </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602144" y="1944430"/>
            <a:ext cx="3970500" cy="43835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a:t>
            </a:r>
            <a:r>
              <a:rPr lang="en-GB" dirty="0" smtClean="0">
                <a:latin typeface="Cambria" panose="02040503050406030204" pitchFamily="18" charset="0"/>
                <a:ea typeface="Cambria" panose="02040503050406030204" pitchFamily="18" charset="0"/>
              </a:rPr>
              <a:t>: G-9</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1384300273"/>
              </p:ext>
            </p:extLst>
          </p:nvPr>
        </p:nvGraphicFramePr>
        <p:xfrm>
          <a:off x="429096" y="2382787"/>
          <a:ext cx="5418675" cy="2403120"/>
        </p:xfrm>
        <a:graphic>
          <a:graphicData uri="http://schemas.openxmlformats.org/drawingml/2006/table">
            <a:tbl>
              <a:tblPr firstRow="1" bandRow="1">
                <a:noFill/>
              </a:tblPr>
              <a:tblGrid>
                <a:gridCol w="2085000">
                  <a:extLst>
                    <a:ext uri="{9D8B030D-6E8A-4147-A177-3AD203B41FA5}">
                      <a16:colId xmlns:a16="http://schemas.microsoft.com/office/drawing/2014/main" xmlns="" val="20000"/>
                    </a:ext>
                  </a:extLst>
                </a:gridCol>
                <a:gridCol w="3333675">
                  <a:extLst>
                    <a:ext uri="{9D8B030D-6E8A-4147-A177-3AD203B41FA5}">
                      <a16:colId xmlns:a16="http://schemas.microsoft.com/office/drawing/2014/main" xmlns="" val="20001"/>
                    </a:ext>
                  </a:extLst>
                </a:gridCol>
              </a:tblGrid>
              <a:tr h="400520">
                <a:tc>
                  <a:txBody>
                    <a:bodyPr/>
                    <a:lstStyle/>
                    <a:p>
                      <a:pPr marL="0" marR="0" lvl="1" indent="0" algn="ctr" rtl="0">
                        <a:spcBef>
                          <a:spcPts val="0"/>
                        </a:spcBef>
                        <a:spcAft>
                          <a:spcPts val="0"/>
                        </a:spcAft>
                        <a:buNone/>
                      </a:pPr>
                      <a:r>
                        <a:rPr lang="en-GB" sz="1800" b="1" u="none" strike="noStrike" cap="none" dirty="0" smtClean="0">
                          <a:solidFill>
                            <a:srgbClr val="17365D"/>
                          </a:solidFill>
                        </a:rPr>
                        <a:t> 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smtClean="0">
                          <a:solidFill>
                            <a:srgbClr val="17365D"/>
                          </a:solidFill>
                        </a:rPr>
                        <a:t>           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400520">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40052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r h="40052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3"/>
                  </a:ext>
                </a:extLst>
              </a:tr>
              <a:tr h="40052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4"/>
                  </a:ext>
                </a:extLst>
              </a:tr>
              <a:tr h="40052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Dr. Joe </a:t>
            </a:r>
            <a:r>
              <a:rPr lang="en-US" sz="1700" b="1" dirty="0" err="1" smtClean="0">
                <a:solidFill>
                  <a:srgbClr val="17365D"/>
                </a:solidFill>
                <a:latin typeface="Cambria" panose="02040503050406030204" pitchFamily="18" charset="0"/>
                <a:ea typeface="Cambria" panose="02040503050406030204" pitchFamily="18" charset="0"/>
                <a:cs typeface="Verdana"/>
                <a:sym typeface="Verdana"/>
              </a:rPr>
              <a:t>Arun</a:t>
            </a:r>
            <a:r>
              <a:rPr lang="en-US" sz="1700" b="1" dirty="0" smtClean="0">
                <a:solidFill>
                  <a:srgbClr val="17365D"/>
                </a:solidFill>
                <a:latin typeface="Cambria" panose="02040503050406030204" pitchFamily="18" charset="0"/>
                <a:ea typeface="Cambria" panose="02040503050406030204" pitchFamily="18" charset="0"/>
                <a:cs typeface="Verdana"/>
                <a:sym typeface="Verdana"/>
              </a:rPr>
              <a:t> Raja</a:t>
            </a:r>
            <a:endParaRPr lang="en-US" sz="1700" b="1" dirty="0" smtClean="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US" sz="1700" dirty="0" smtClean="0">
                <a:solidFill>
                  <a:srgbClr val="17365D"/>
                </a:solidFill>
                <a:latin typeface="Cambria" panose="02040503050406030204" pitchFamily="18" charset="0"/>
                <a:ea typeface="Cambria" panose="02040503050406030204" pitchFamily="18" charset="0"/>
                <a:cs typeface="Verdana"/>
                <a:sym typeface="Verdana"/>
              </a:rPr>
              <a:t>Associate Professor</a:t>
            </a:r>
            <a:endParaRPr lang="en-US" sz="16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lang="en-US" sz="16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sz="16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PSCS184 </a:t>
            </a: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dirty="0" smtClean="0">
                <a:solidFill>
                  <a:srgbClr val="17365D"/>
                </a:solidFill>
                <a:latin typeface="Cambria" panose="02040503050406030204" pitchFamily="18" charset="0"/>
                <a:ea typeface="Cambria" panose="02040503050406030204" pitchFamily="18" charset="0"/>
                <a:cs typeface="Verdana"/>
                <a:sym typeface="Verdana"/>
              </a:rPr>
              <a:t>VIVA - VOCE</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err="1">
                <a:latin typeface="Cambria" panose="02040503050406030204" pitchFamily="18" charset="0"/>
                <a:ea typeface="Cambria" panose="02040503050406030204" pitchFamily="18" charset="0"/>
                <a:cs typeface="Verdana"/>
                <a:sym typeface="Verdana"/>
              </a:rPr>
              <a:t>B.Tech</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a:latin typeface="Cambria" panose="02040503050406030204" pitchFamily="18" charset="0"/>
                <a:ea typeface="Cambria" panose="02040503050406030204" pitchFamily="18" charset="0"/>
                <a:cs typeface="Verdana"/>
                <a:sym typeface="Verdana"/>
              </a:rPr>
              <a:t>Dr. Gopal Krishna </a:t>
            </a:r>
            <a:r>
              <a:rPr lang="en-US" sz="2000" b="1" dirty="0" err="1">
                <a:latin typeface="Cambria" panose="02040503050406030204" pitchFamily="18" charset="0"/>
                <a:ea typeface="Cambria" panose="02040503050406030204" pitchFamily="18" charset="0"/>
                <a:cs typeface="Verdana"/>
                <a:sym typeface="Verdana"/>
              </a:rPr>
              <a:t>Shyam</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dirty="0">
                <a:latin typeface="Cambria" panose="02040503050406030204" pitchFamily="18" charset="0"/>
                <a:ea typeface="Cambria" panose="02040503050406030204" pitchFamily="18" charset="0"/>
                <a:cs typeface="Verdana"/>
                <a:sym typeface="Verdana"/>
              </a:rPr>
              <a:t>Dr. </a:t>
            </a:r>
            <a:r>
              <a:rPr lang="en-US" sz="2000" b="1" dirty="0" err="1">
                <a:latin typeface="Cambria" panose="02040503050406030204" pitchFamily="18" charset="0"/>
                <a:ea typeface="Cambria" panose="02040503050406030204" pitchFamily="18" charset="0"/>
                <a:cs typeface="Verdana"/>
                <a:sym typeface="Verdana"/>
              </a:rPr>
              <a:t>Sudha</a:t>
            </a:r>
            <a:r>
              <a:rPr lang="en-US" sz="2000" b="1" dirty="0">
                <a:latin typeface="Cambria" panose="02040503050406030204" pitchFamily="18" charset="0"/>
                <a:ea typeface="Cambria" panose="02040503050406030204" pitchFamily="18" charset="0"/>
                <a:cs typeface="Verdana"/>
                <a:sym typeface="Verdana"/>
              </a:rPr>
              <a:t> P</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dirty="0">
                <a:latin typeface="Cambria" panose="02040503050406030204" pitchFamily="18" charset="0"/>
                <a:ea typeface="Cambria" panose="02040503050406030204" pitchFamily="18" charset="0"/>
                <a:cs typeface="Verdana"/>
                <a:sym typeface="Verdana"/>
              </a:rPr>
              <a:t>Dr. </a:t>
            </a:r>
            <a:r>
              <a:rPr lang="en-US" sz="2000" b="1" dirty="0" err="1">
                <a:latin typeface="Cambria" panose="02040503050406030204" pitchFamily="18" charset="0"/>
                <a:ea typeface="Cambria" panose="02040503050406030204" pitchFamily="18" charset="0"/>
                <a:cs typeface="Verdana"/>
                <a:sym typeface="Verdana"/>
              </a:rPr>
              <a:t>Sampath</a:t>
            </a:r>
            <a:r>
              <a:rPr lang="en-US" sz="2000" b="1" dirty="0">
                <a:latin typeface="Cambria" panose="02040503050406030204" pitchFamily="18" charset="0"/>
                <a:ea typeface="Cambria" panose="02040503050406030204" pitchFamily="18" charset="0"/>
                <a:cs typeface="Verdana"/>
                <a:sym typeface="Verdana"/>
              </a:rPr>
              <a:t> A K / Dr. Abdul Khadar A / Mr. </a:t>
            </a:r>
            <a:r>
              <a:rPr lang="en-US" sz="2000" b="1" dirty="0" err="1">
                <a:latin typeface="Cambria" panose="02040503050406030204" pitchFamily="18" charset="0"/>
                <a:ea typeface="Cambria" panose="02040503050406030204" pitchFamily="18" charset="0"/>
                <a:cs typeface="Verdana"/>
                <a:sym typeface="Verdana"/>
              </a:rPr>
              <a:t>Md</a:t>
            </a:r>
            <a:r>
              <a:rPr lang="en-US" sz="2000" b="1" dirty="0">
                <a:latin typeface="Cambria" panose="02040503050406030204" pitchFamily="18" charset="0"/>
                <a:ea typeface="Cambria" panose="02040503050406030204" pitchFamily="18" charset="0"/>
                <a:cs typeface="Verdana"/>
                <a:sym typeface="Verdana"/>
              </a:rPr>
              <a:t> Zia Ur Rahman</a:t>
            </a:r>
            <a:endParaRPr lang="en-US" sz="2000" b="1" dirty="0">
              <a:latin typeface="Cambria" panose="02040503050406030204" pitchFamily="18" charset="0"/>
              <a:ea typeface="Cambria" panose="02040503050406030204" pitchFamily="18" charset="0"/>
              <a:cs typeface="Verdana"/>
              <a:sym typeface="Verdana"/>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317" y="2906949"/>
            <a:ext cx="4876235" cy="17938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ambria" panose="02040503050406030204" pitchFamily="18" charset="0"/>
                <a:ea typeface="Cambria" panose="02040503050406030204" pitchFamily="18" charset="0"/>
              </a:rPr>
              <a:t>Introduction of our Project</a:t>
            </a:r>
            <a:endParaRPr lang="en-GB"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12800" y="975576"/>
            <a:ext cx="10668000" cy="4952997"/>
          </a:xfrm>
        </p:spPr>
        <p:txBody>
          <a:bodyPr>
            <a:noAutofit/>
          </a:bodyPr>
          <a:lstStyle/>
          <a:p>
            <a:pPr marL="0" indent="0" algn="just">
              <a:buNone/>
            </a:pPr>
            <a:r>
              <a:rPr lang="en-US" dirty="0">
                <a:latin typeface="Cambria" panose="02040503050406030204" pitchFamily="18" charset="0"/>
                <a:ea typeface="Cambria" panose="02040503050406030204" pitchFamily="18" charset="0"/>
              </a:rPr>
              <a:t>Financial causality detection plays a significant role in analyzing financial disclosures and reports. By understanding cause-effect relationships within financial texts, businesses, regulators, and investors can make informed decisions. This task involves both </a:t>
            </a:r>
            <a:r>
              <a:rPr lang="en-US" b="1" dirty="0">
                <a:latin typeface="Cambria" panose="02040503050406030204" pitchFamily="18" charset="0"/>
                <a:ea typeface="Cambria" panose="02040503050406030204" pitchFamily="18" charset="0"/>
              </a:rPr>
              <a:t>extractive</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generative</a:t>
            </a:r>
            <a:r>
              <a:rPr lang="en-US" dirty="0">
                <a:latin typeface="Cambria" panose="02040503050406030204" pitchFamily="18" charset="0"/>
                <a:ea typeface="Cambria" panose="02040503050406030204" pitchFamily="18" charset="0"/>
              </a:rPr>
              <a:t> approaches to Question Answering (QA) for detecting causal effects in financial data. </a:t>
            </a:r>
            <a:endParaRPr lang="en-US" dirty="0" smtClean="0">
              <a:latin typeface="Cambria" panose="02040503050406030204" pitchFamily="18" charset="0"/>
              <a:ea typeface="Cambria" panose="02040503050406030204" pitchFamily="18" charset="0"/>
            </a:endParaRPr>
          </a:p>
          <a:p>
            <a:pPr marL="0" indent="0" algn="just">
              <a:buNone/>
            </a:pP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Extractive </a:t>
            </a:r>
            <a:r>
              <a:rPr lang="en-US" dirty="0">
                <a:latin typeface="Cambria" panose="02040503050406030204" pitchFamily="18" charset="0"/>
                <a:ea typeface="Cambria" panose="02040503050406030204" pitchFamily="18" charset="0"/>
              </a:rPr>
              <a:t>QA focuses on finding exact answers from the text, while generative QA can generate creative and abstract answers by forming deeper inferences from the data. By implementing Natural Language Processing (NLP) techniques with models like </a:t>
            </a:r>
            <a:r>
              <a:rPr lang="en-US" b="1" dirty="0" err="1">
                <a:latin typeface="Cambria" panose="02040503050406030204" pitchFamily="18" charset="0"/>
                <a:ea typeface="Cambria" panose="02040503050406030204" pitchFamily="18" charset="0"/>
              </a:rPr>
              <a:t>RoBERTa</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GPT-2</a:t>
            </a:r>
            <a:r>
              <a:rPr lang="en-US" dirty="0">
                <a:latin typeface="Cambria" panose="02040503050406030204" pitchFamily="18" charset="0"/>
                <a:ea typeface="Cambria" panose="02040503050406030204" pitchFamily="18" charset="0"/>
              </a:rPr>
              <a:t>, we can automate the process of detecting causal relationships in both </a:t>
            </a:r>
            <a:r>
              <a:rPr lang="en-US" b="1" dirty="0">
                <a:latin typeface="Cambria" panose="02040503050406030204" pitchFamily="18" charset="0"/>
                <a:ea typeface="Cambria" panose="02040503050406030204" pitchFamily="18" charset="0"/>
              </a:rPr>
              <a:t>English</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Spanish</a:t>
            </a: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datasets.</a:t>
            </a:r>
          </a:p>
          <a:p>
            <a:pPr marL="0" indent="0" algn="just">
              <a:buNone/>
            </a:pP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                                                                                                  The </a:t>
            </a:r>
            <a:r>
              <a:rPr lang="en-US" dirty="0">
                <a:latin typeface="Cambria" panose="02040503050406030204" pitchFamily="18" charset="0"/>
                <a:ea typeface="Cambria" panose="02040503050406030204" pitchFamily="18" charset="0"/>
              </a:rPr>
              <a:t>task involves preprocessing text using language models like </a:t>
            </a:r>
            <a:r>
              <a:rPr lang="en-US" b="1" dirty="0" err="1">
                <a:latin typeface="Cambria" panose="02040503050406030204" pitchFamily="18" charset="0"/>
                <a:ea typeface="Cambria" panose="02040503050406030204" pitchFamily="18" charset="0"/>
              </a:rPr>
              <a:t>SpaCy</a:t>
            </a:r>
            <a:r>
              <a:rPr lang="en-US" dirty="0">
                <a:latin typeface="Cambria" panose="02040503050406030204" pitchFamily="18" charset="0"/>
                <a:ea typeface="Cambria" panose="02040503050406030204" pitchFamily="18" charset="0"/>
              </a:rPr>
              <a:t> for tokenization, </a:t>
            </a:r>
            <a:r>
              <a:rPr lang="en-US" b="1" dirty="0" err="1">
                <a:latin typeface="Cambria" panose="02040503050406030204" pitchFamily="18" charset="0"/>
                <a:ea typeface="Cambria" panose="02040503050406030204" pitchFamily="18" charset="0"/>
              </a:rPr>
              <a:t>RoBERTa</a:t>
            </a:r>
            <a:r>
              <a:rPr lang="en-US" dirty="0">
                <a:latin typeface="Cambria" panose="02040503050406030204" pitchFamily="18" charset="0"/>
                <a:ea typeface="Cambria" panose="02040503050406030204" pitchFamily="18" charset="0"/>
              </a:rPr>
              <a:t> for extractive QA, and </a:t>
            </a:r>
            <a:r>
              <a:rPr lang="en-US" b="1" dirty="0">
                <a:latin typeface="Cambria" panose="02040503050406030204" pitchFamily="18" charset="0"/>
                <a:ea typeface="Cambria" panose="02040503050406030204" pitchFamily="18" charset="0"/>
              </a:rPr>
              <a:t>GPT-2</a:t>
            </a:r>
            <a:r>
              <a:rPr lang="en-US" dirty="0">
                <a:latin typeface="Cambria" panose="02040503050406030204" pitchFamily="18" charset="0"/>
                <a:ea typeface="Cambria" panose="02040503050406030204" pitchFamily="18" charset="0"/>
              </a:rPr>
              <a:t> for generative QA. </a:t>
            </a:r>
          </a:p>
        </p:txBody>
      </p:sp>
    </p:spTree>
    <p:extLst>
      <p:ext uri="{BB962C8B-B14F-4D97-AF65-F5344CB8AC3E}">
        <p14:creationId xmlns:p14="http://schemas.microsoft.com/office/powerpoint/2010/main" val="363348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Literature Review</a:t>
            </a:r>
          </a:p>
        </p:txBody>
      </p:sp>
      <p:sp>
        <p:nvSpPr>
          <p:cNvPr id="3" name="Content Placeholder 2"/>
          <p:cNvSpPr>
            <a:spLocks noGrp="1"/>
          </p:cNvSpPr>
          <p:nvPr>
            <p:ph idx="1"/>
          </p:nvPr>
        </p:nvSpPr>
        <p:spPr/>
        <p:txBody>
          <a:bodyPr>
            <a:normAutofit fontScale="92500" lnSpcReduction="10000"/>
          </a:bodyPr>
          <a:lstStyle/>
          <a:p>
            <a:pPr marL="0" indent="0" algn="ctr">
              <a:lnSpc>
                <a:spcPct val="160000"/>
              </a:lnSpc>
              <a:buNone/>
            </a:pPr>
            <a:r>
              <a:rPr lang="en-IN" sz="3300" u="sng" dirty="0" smtClean="0">
                <a:latin typeface="Cambria" panose="02040503050406030204" pitchFamily="18" charset="0"/>
                <a:ea typeface="Cambria" panose="02040503050406030204" pitchFamily="18" charset="0"/>
              </a:rPr>
              <a:t>“</a:t>
            </a:r>
            <a:r>
              <a:rPr lang="en-IN" sz="3300" b="1" u="sng" dirty="0" smtClean="0">
                <a:latin typeface="Cambria" panose="02040503050406030204" pitchFamily="18" charset="0"/>
                <a:ea typeface="Cambria" panose="02040503050406030204" pitchFamily="18" charset="0"/>
              </a:rPr>
              <a:t>Deep </a:t>
            </a:r>
            <a:r>
              <a:rPr lang="en-IN" sz="3300" b="1" u="sng" dirty="0">
                <a:latin typeface="Cambria" panose="02040503050406030204" pitchFamily="18" charset="0"/>
                <a:ea typeface="Cambria" panose="02040503050406030204" pitchFamily="18" charset="0"/>
              </a:rPr>
              <a:t>Learning. MIT Press</a:t>
            </a:r>
            <a:r>
              <a:rPr lang="en-IN" sz="3300" b="1" u="sng" dirty="0" smtClean="0">
                <a:latin typeface="Cambria" panose="02040503050406030204" pitchFamily="18" charset="0"/>
                <a:ea typeface="Cambria" panose="02040503050406030204" pitchFamily="18" charset="0"/>
              </a:rPr>
              <a:t>.”</a:t>
            </a:r>
            <a:endParaRPr lang="en-US" sz="3300" b="1" u="sng" dirty="0">
              <a:latin typeface="Cambria" panose="02040503050406030204" pitchFamily="18" charset="0"/>
              <a:ea typeface="Cambria" panose="02040503050406030204" pitchFamily="18" charset="0"/>
            </a:endParaRPr>
          </a:p>
          <a:p>
            <a:pPr algn="just">
              <a:lnSpc>
                <a:spcPct val="160000"/>
              </a:lnSpc>
              <a:buFont typeface="Wingdings" panose="05000000000000000000" pitchFamily="2" charset="2"/>
              <a:buChar char="Ø"/>
            </a:pPr>
            <a:r>
              <a:rPr lang="en-IN" b="1" dirty="0" smtClean="0">
                <a:latin typeface="Cambria" panose="02040503050406030204" pitchFamily="18" charset="0"/>
                <a:ea typeface="Cambria" panose="02040503050406030204" pitchFamily="18" charset="0"/>
              </a:rPr>
              <a:t>Author </a:t>
            </a:r>
            <a:r>
              <a:rPr lang="en-IN"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Goodfellow, I., </a:t>
            </a:r>
            <a:r>
              <a:rPr lang="en-US" dirty="0" err="1">
                <a:latin typeface="Cambria" panose="02040503050406030204" pitchFamily="18" charset="0"/>
                <a:ea typeface="Cambria" panose="02040503050406030204" pitchFamily="18" charset="0"/>
              </a:rPr>
              <a:t>Bengio</a:t>
            </a:r>
            <a:r>
              <a:rPr lang="en-US" dirty="0">
                <a:latin typeface="Cambria" panose="02040503050406030204" pitchFamily="18" charset="0"/>
                <a:ea typeface="Cambria" panose="02040503050406030204" pitchFamily="18" charset="0"/>
              </a:rPr>
              <a:t>, Y., &amp; </a:t>
            </a:r>
            <a:r>
              <a:rPr lang="en-US" dirty="0" err="1">
                <a:latin typeface="Cambria" panose="02040503050406030204" pitchFamily="18" charset="0"/>
                <a:ea typeface="Cambria" panose="02040503050406030204" pitchFamily="18" charset="0"/>
              </a:rPr>
              <a:t>Courville</a:t>
            </a: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A.</a:t>
            </a:r>
          </a:p>
          <a:p>
            <a:pPr algn="just">
              <a:lnSpc>
                <a:spcPct val="160000"/>
              </a:lnSpc>
              <a:buFont typeface="Wingdings" panose="05000000000000000000" pitchFamily="2" charset="2"/>
              <a:buChar char="Ø"/>
            </a:pPr>
            <a:r>
              <a:rPr lang="en-IN" b="1" dirty="0" smtClean="0">
                <a:latin typeface="Cambria" panose="02040503050406030204" pitchFamily="18" charset="0"/>
                <a:ea typeface="Cambria" panose="02040503050406030204" pitchFamily="18" charset="0"/>
              </a:rPr>
              <a:t>Algorithm </a:t>
            </a:r>
            <a:r>
              <a:rPr lang="en-IN" b="1" dirty="0">
                <a:latin typeface="Cambria" panose="02040503050406030204" pitchFamily="18" charset="0"/>
                <a:ea typeface="Cambria" panose="02040503050406030204" pitchFamily="18" charset="0"/>
              </a:rPr>
              <a:t>Used</a:t>
            </a:r>
            <a:r>
              <a:rPr lang="en-IN" dirty="0" smtClean="0">
                <a:latin typeface="Cambria" panose="02040503050406030204" pitchFamily="18" charset="0"/>
                <a:ea typeface="Cambria" panose="02040503050406030204" pitchFamily="18" charset="0"/>
              </a:rPr>
              <a:t>:</a:t>
            </a:r>
          </a:p>
          <a:p>
            <a:pPr algn="just"/>
            <a:r>
              <a:rPr lang="en-IN" b="1" dirty="0" smtClean="0">
                <a:latin typeface="Cambria" panose="02040503050406030204" pitchFamily="18" charset="0"/>
                <a:ea typeface="Cambria" panose="02040503050406030204" pitchFamily="18" charset="0"/>
              </a:rPr>
              <a:t>Deep </a:t>
            </a:r>
            <a:r>
              <a:rPr lang="en-IN" b="1" dirty="0">
                <a:latin typeface="Cambria" panose="02040503050406030204" pitchFamily="18" charset="0"/>
                <a:ea typeface="Cambria" panose="02040503050406030204" pitchFamily="18" charset="0"/>
              </a:rPr>
              <a:t>Neural Networks (DNNs)</a:t>
            </a:r>
            <a:r>
              <a:rPr lang="en-IN" dirty="0">
                <a:latin typeface="Cambria" panose="02040503050406030204" pitchFamily="18" charset="0"/>
                <a:ea typeface="Cambria" panose="02040503050406030204" pitchFamily="18" charset="0"/>
              </a:rPr>
              <a:t>: The book covers a wide range of deep learning architectures such as Convolutional Neural Networks (CNNs), Recurrent Neural Networks (RNNs), and generative models like Generative Adversarial Networks (GANs).</a:t>
            </a:r>
          </a:p>
          <a:p>
            <a:pPr algn="just">
              <a:buFont typeface="Wingdings" panose="05000000000000000000" pitchFamily="2" charset="2"/>
              <a:buChar char="Ø"/>
            </a:pPr>
            <a:r>
              <a:rPr lang="en-US" b="1" dirty="0" smtClean="0">
                <a:latin typeface="Cambria" panose="02040503050406030204" pitchFamily="18" charset="0"/>
                <a:ea typeface="Cambria" panose="02040503050406030204" pitchFamily="18" charset="0"/>
              </a:rPr>
              <a:t>Drawbacks</a:t>
            </a:r>
            <a:r>
              <a:rPr lang="en-US" dirty="0" smtClean="0">
                <a:latin typeface="Cambria" panose="02040503050406030204" pitchFamily="18" charset="0"/>
                <a:ea typeface="Cambria" panose="02040503050406030204" pitchFamily="18" charset="0"/>
              </a:rPr>
              <a:t>:</a:t>
            </a:r>
          </a:p>
          <a:p>
            <a:pPr algn="just"/>
            <a:r>
              <a:rPr lang="en-US" b="1" dirty="0" smtClean="0">
                <a:latin typeface="Cambria" panose="02040503050406030204" pitchFamily="18" charset="0"/>
                <a:ea typeface="Cambria" panose="02040503050406030204" pitchFamily="18" charset="0"/>
              </a:rPr>
              <a:t>Computationally </a:t>
            </a:r>
            <a:r>
              <a:rPr lang="en-US" b="1" dirty="0">
                <a:latin typeface="Cambria" panose="02040503050406030204" pitchFamily="18" charset="0"/>
                <a:ea typeface="Cambria" panose="02040503050406030204" pitchFamily="18" charset="0"/>
              </a:rPr>
              <a:t>Expensive</a:t>
            </a:r>
            <a:r>
              <a:rPr lang="en-US" dirty="0">
                <a:latin typeface="Cambria" panose="02040503050406030204" pitchFamily="18" charset="0"/>
                <a:ea typeface="Cambria" panose="02040503050406030204" pitchFamily="18" charset="0"/>
              </a:rPr>
              <a:t>: Training deep networks requires a lot of computational power and memory.</a:t>
            </a:r>
          </a:p>
          <a:p>
            <a:pPr algn="just"/>
            <a:r>
              <a:rPr lang="en-US" b="1" dirty="0" err="1">
                <a:latin typeface="Cambria" panose="02040503050406030204" pitchFamily="18" charset="0"/>
                <a:ea typeface="Cambria" panose="02040503050406030204" pitchFamily="18" charset="0"/>
              </a:rPr>
              <a:t>Overfitting</a:t>
            </a:r>
            <a:r>
              <a:rPr lang="en-US" dirty="0">
                <a:latin typeface="Cambria" panose="02040503050406030204" pitchFamily="18" charset="0"/>
                <a:ea typeface="Cambria" panose="02040503050406030204" pitchFamily="18" charset="0"/>
              </a:rPr>
              <a:t>: Deep networks can easily </a:t>
            </a:r>
            <a:r>
              <a:rPr lang="en-US" dirty="0" err="1">
                <a:latin typeface="Cambria" panose="02040503050406030204" pitchFamily="18" charset="0"/>
                <a:ea typeface="Cambria" panose="02040503050406030204" pitchFamily="18" charset="0"/>
              </a:rPr>
              <a:t>overfit</a:t>
            </a:r>
            <a:r>
              <a:rPr lang="en-US" dirty="0">
                <a:latin typeface="Cambria" panose="02040503050406030204" pitchFamily="18" charset="0"/>
                <a:ea typeface="Cambria" panose="02040503050406030204" pitchFamily="18" charset="0"/>
              </a:rPr>
              <a:t>, especially when trained on small datasets.</a:t>
            </a:r>
          </a:p>
          <a:p>
            <a:pPr algn="just">
              <a:lnSpc>
                <a:spcPct val="160000"/>
              </a:lnSpc>
              <a:buFont typeface="Wingdings" panose="05000000000000000000" pitchFamily="2" charset="2"/>
              <a:buChar char="Ø"/>
            </a:pPr>
            <a:endParaRPr lang="en-US" u="sng" dirty="0">
              <a:latin typeface="Cambria" panose="02040503050406030204" pitchFamily="18" charset="0"/>
              <a:ea typeface="Cambria" panose="02040503050406030204" pitchFamily="18" charset="0"/>
            </a:endParaRPr>
          </a:p>
          <a:p>
            <a:pPr marL="0" indent="0" algn="just">
              <a:lnSpc>
                <a:spcPct val="160000"/>
              </a:lnSpc>
              <a:buNone/>
            </a:pPr>
            <a:endParaRPr lang="en-IN" b="1" dirty="0">
              <a:latin typeface="Cambria" panose="02040503050406030204" pitchFamily="18" charset="0"/>
              <a:ea typeface="Cambria" panose="02040503050406030204" pitchFamily="18" charset="0"/>
            </a:endParaRPr>
          </a:p>
          <a:p>
            <a:pPr marL="0" indent="0" algn="just">
              <a:lnSpc>
                <a:spcPct val="160000"/>
              </a:lnSpc>
              <a:buNone/>
            </a:pPr>
            <a:endParaRPr lang="en-US" b="1" dirty="0">
              <a:latin typeface="Cambria" panose="02040503050406030204" pitchFamily="18" charset="0"/>
              <a:ea typeface="Cambria" panose="02040503050406030204" pitchFamily="18" charset="0"/>
            </a:endParaRPr>
          </a:p>
          <a:p>
            <a:pPr algn="just">
              <a:lnSpc>
                <a:spcPct val="160000"/>
              </a:lnSpc>
              <a:buFont typeface="Wingdings" panose="05000000000000000000" pitchFamily="2" charset="2"/>
              <a:buChar char="Ø"/>
            </a:pPr>
            <a:endParaRPr lang="en-IN" b="1" dirty="0">
              <a:latin typeface="Cambria" panose="02040503050406030204" pitchFamily="18" charset="0"/>
              <a:ea typeface="Cambria" panose="02040503050406030204" pitchFamily="18" charset="0"/>
            </a:endParaRPr>
          </a:p>
          <a:p>
            <a:pPr algn="just">
              <a:lnSpc>
                <a:spcPct val="160000"/>
              </a:lnSpc>
            </a:pP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67711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Literature Review</a:t>
            </a:r>
          </a:p>
        </p:txBody>
      </p:sp>
      <p:sp>
        <p:nvSpPr>
          <p:cNvPr id="3" name="Content Placeholder 2"/>
          <p:cNvSpPr>
            <a:spLocks noGrp="1"/>
          </p:cNvSpPr>
          <p:nvPr>
            <p:ph idx="1"/>
          </p:nvPr>
        </p:nvSpPr>
        <p:spPr>
          <a:xfrm>
            <a:off x="812800" y="949818"/>
            <a:ext cx="10668000" cy="5167647"/>
          </a:xfrm>
        </p:spPr>
        <p:txBody>
          <a:bodyPr>
            <a:normAutofit fontScale="92500" lnSpcReduction="10000"/>
          </a:bodyPr>
          <a:lstStyle/>
          <a:p>
            <a:pPr marL="0" indent="0" algn="ctr">
              <a:lnSpc>
                <a:spcPct val="170000"/>
              </a:lnSpc>
              <a:buNone/>
            </a:pPr>
            <a:r>
              <a:rPr lang="en-US" sz="3200" b="1" u="sng" dirty="0" smtClean="0">
                <a:latin typeface="Cambria" panose="02040503050406030204" pitchFamily="18" charset="0"/>
                <a:ea typeface="Cambria" panose="02040503050406030204" pitchFamily="18" charset="0"/>
              </a:rPr>
              <a:t>“Attention </a:t>
            </a:r>
            <a:r>
              <a:rPr lang="en-US" sz="3200" b="1" u="sng" dirty="0">
                <a:latin typeface="Cambria" panose="02040503050406030204" pitchFamily="18" charset="0"/>
                <a:ea typeface="Cambria" panose="02040503050406030204" pitchFamily="18" charset="0"/>
              </a:rPr>
              <a:t>is All You </a:t>
            </a:r>
            <a:r>
              <a:rPr lang="en-US" sz="3200" b="1" u="sng" dirty="0" smtClean="0">
                <a:latin typeface="Cambria" panose="02040503050406030204" pitchFamily="18" charset="0"/>
                <a:ea typeface="Cambria" panose="02040503050406030204" pitchFamily="18" charset="0"/>
              </a:rPr>
              <a:t>Need.”</a:t>
            </a:r>
          </a:p>
          <a:p>
            <a:pPr algn="just">
              <a:lnSpc>
                <a:spcPct val="170000"/>
              </a:lnSpc>
              <a:buFont typeface="Wingdings" panose="05000000000000000000" pitchFamily="2" charset="2"/>
              <a:buChar char="Ø"/>
            </a:pPr>
            <a:r>
              <a:rPr lang="en-IN" b="1" dirty="0" smtClean="0">
                <a:latin typeface="Cambria" panose="02040503050406030204" pitchFamily="18" charset="0"/>
                <a:ea typeface="Cambria" panose="02040503050406030204" pitchFamily="18" charset="0"/>
              </a:rPr>
              <a:t>Author </a:t>
            </a:r>
            <a:r>
              <a:rPr lang="en-IN" b="1" dirty="0">
                <a:latin typeface="Cambria" panose="02040503050406030204" pitchFamily="18" charset="0"/>
                <a:ea typeface="Cambria" panose="02040503050406030204" pitchFamily="18" charset="0"/>
              </a:rPr>
              <a:t>: </a:t>
            </a:r>
            <a:r>
              <a:rPr lang="en-IN" dirty="0" err="1">
                <a:latin typeface="Cambria" panose="02040503050406030204" pitchFamily="18" charset="0"/>
                <a:ea typeface="Cambria" panose="02040503050406030204" pitchFamily="18" charset="0"/>
              </a:rPr>
              <a:t>Vaswani</a:t>
            </a:r>
            <a:r>
              <a:rPr lang="en-IN" dirty="0">
                <a:latin typeface="Cambria" panose="02040503050406030204" pitchFamily="18" charset="0"/>
                <a:ea typeface="Cambria" panose="02040503050406030204" pitchFamily="18" charset="0"/>
              </a:rPr>
              <a:t>, A., </a:t>
            </a:r>
            <a:r>
              <a:rPr lang="en-IN" dirty="0" err="1">
                <a:latin typeface="Cambria" panose="02040503050406030204" pitchFamily="18" charset="0"/>
                <a:ea typeface="Cambria" panose="02040503050406030204" pitchFamily="18" charset="0"/>
              </a:rPr>
              <a:t>Shazeer</a:t>
            </a:r>
            <a:r>
              <a:rPr lang="en-IN" dirty="0">
                <a:latin typeface="Cambria" panose="02040503050406030204" pitchFamily="18" charset="0"/>
                <a:ea typeface="Cambria" panose="02040503050406030204" pitchFamily="18" charset="0"/>
              </a:rPr>
              <a:t>, N., </a:t>
            </a:r>
            <a:r>
              <a:rPr lang="en-IN" dirty="0" err="1">
                <a:latin typeface="Cambria" panose="02040503050406030204" pitchFamily="18" charset="0"/>
                <a:ea typeface="Cambria" panose="02040503050406030204" pitchFamily="18" charset="0"/>
              </a:rPr>
              <a:t>Parmar</a:t>
            </a:r>
            <a:r>
              <a:rPr lang="en-IN" dirty="0">
                <a:latin typeface="Cambria" panose="02040503050406030204" pitchFamily="18" charset="0"/>
                <a:ea typeface="Cambria" panose="02040503050406030204" pitchFamily="18" charset="0"/>
              </a:rPr>
              <a:t>, N., et al</a:t>
            </a:r>
            <a:r>
              <a:rPr lang="en-IN" dirty="0" smtClean="0">
                <a:latin typeface="Cambria" panose="02040503050406030204" pitchFamily="18" charset="0"/>
                <a:ea typeface="Cambria" panose="02040503050406030204" pitchFamily="18" charset="0"/>
              </a:rPr>
              <a:t>.</a:t>
            </a:r>
          </a:p>
          <a:p>
            <a:pPr algn="just">
              <a:buFont typeface="Wingdings" panose="05000000000000000000" pitchFamily="2" charset="2"/>
              <a:buChar char="Ø"/>
            </a:pPr>
            <a:r>
              <a:rPr lang="en-US" b="1" dirty="0">
                <a:latin typeface="Cambria" panose="02040503050406030204" pitchFamily="18" charset="0"/>
                <a:ea typeface="Cambria" panose="02040503050406030204" pitchFamily="18" charset="0"/>
              </a:rPr>
              <a:t>Algorithm Used</a:t>
            </a:r>
            <a:r>
              <a:rPr lang="en-US" dirty="0" smtClean="0">
                <a:latin typeface="Cambria" panose="02040503050406030204" pitchFamily="18" charset="0"/>
                <a:ea typeface="Cambria" panose="02040503050406030204" pitchFamily="18" charset="0"/>
              </a:rPr>
              <a:t>:</a:t>
            </a:r>
          </a:p>
          <a:p>
            <a:pPr algn="just"/>
            <a:r>
              <a:rPr lang="en-US" b="1" dirty="0" smtClean="0">
                <a:latin typeface="Cambria" panose="02040503050406030204" pitchFamily="18" charset="0"/>
                <a:ea typeface="Cambria" panose="02040503050406030204" pitchFamily="18" charset="0"/>
              </a:rPr>
              <a:t>Transformer </a:t>
            </a:r>
            <a:r>
              <a:rPr lang="en-US" b="1" dirty="0">
                <a:latin typeface="Cambria" panose="02040503050406030204" pitchFamily="18" charset="0"/>
                <a:ea typeface="Cambria" panose="02040503050406030204" pitchFamily="18" charset="0"/>
              </a:rPr>
              <a:t>Architecture</a:t>
            </a:r>
            <a:r>
              <a:rPr lang="en-US" dirty="0">
                <a:latin typeface="Cambria" panose="02040503050406030204" pitchFamily="18" charset="0"/>
                <a:ea typeface="Cambria" panose="02040503050406030204" pitchFamily="18" charset="0"/>
              </a:rPr>
              <a:t>: Introduces the transformer model based purely on attention mechanisms, eliminating the need for recurrent layers. The core concept is the </a:t>
            </a:r>
            <a:r>
              <a:rPr lang="en-US" b="1" dirty="0">
                <a:latin typeface="Cambria" panose="02040503050406030204" pitchFamily="18" charset="0"/>
                <a:ea typeface="Cambria" panose="02040503050406030204" pitchFamily="18" charset="0"/>
              </a:rPr>
              <a:t>self-attention</a:t>
            </a:r>
            <a:r>
              <a:rPr lang="en-US" dirty="0">
                <a:latin typeface="Cambria" panose="02040503050406030204" pitchFamily="18" charset="0"/>
                <a:ea typeface="Cambria" panose="02040503050406030204" pitchFamily="18" charset="0"/>
              </a:rPr>
              <a:t> mechanism, which enables the model to focus on different parts of the input sequence dynamically.</a:t>
            </a:r>
          </a:p>
          <a:p>
            <a:pPr algn="just">
              <a:buFont typeface="Wingdings" panose="05000000000000000000" pitchFamily="2" charset="2"/>
              <a:buChar char="Ø"/>
            </a:pPr>
            <a:r>
              <a:rPr lang="en-US" b="1" dirty="0">
                <a:latin typeface="Cambria" panose="02040503050406030204" pitchFamily="18" charset="0"/>
                <a:ea typeface="Cambria" panose="02040503050406030204" pitchFamily="18" charset="0"/>
              </a:rPr>
              <a:t>Drawbacks</a:t>
            </a:r>
            <a:r>
              <a:rPr lang="en-US" dirty="0" smtClean="0">
                <a:latin typeface="Cambria" panose="02040503050406030204" pitchFamily="18" charset="0"/>
                <a:ea typeface="Cambria" panose="02040503050406030204" pitchFamily="18" charset="0"/>
              </a:rPr>
              <a:t>:</a:t>
            </a:r>
          </a:p>
          <a:p>
            <a:pPr algn="just"/>
            <a:r>
              <a:rPr lang="en-US" b="1" dirty="0" smtClean="0">
                <a:latin typeface="Cambria" panose="02040503050406030204" pitchFamily="18" charset="0"/>
                <a:ea typeface="Cambria" panose="02040503050406030204" pitchFamily="18" charset="0"/>
              </a:rPr>
              <a:t>Scalability</a:t>
            </a:r>
            <a:r>
              <a:rPr lang="en-US" dirty="0">
                <a:latin typeface="Cambria" panose="02040503050406030204" pitchFamily="18" charset="0"/>
                <a:ea typeface="Cambria" panose="02040503050406030204" pitchFamily="18" charset="0"/>
              </a:rPr>
              <a:t>: Transformers have quadratic complexity with respect to sequence length due to the self-attention mechanism, making them computationally expensive for long sequences.</a:t>
            </a:r>
          </a:p>
          <a:p>
            <a:pPr algn="just"/>
            <a:r>
              <a:rPr lang="en-US" b="1" dirty="0">
                <a:latin typeface="Cambria" panose="02040503050406030204" pitchFamily="18" charset="0"/>
                <a:ea typeface="Cambria" panose="02040503050406030204" pitchFamily="18" charset="0"/>
              </a:rPr>
              <a:t>Memory Consumption</a:t>
            </a:r>
            <a:r>
              <a:rPr lang="en-US" dirty="0">
                <a:latin typeface="Cambria" panose="02040503050406030204" pitchFamily="18" charset="0"/>
                <a:ea typeface="Cambria" panose="02040503050406030204" pitchFamily="18" charset="0"/>
              </a:rPr>
              <a:t>: The self-attention mechanism consumes large amounts of memory, especially for long input sequences.</a:t>
            </a:r>
          </a:p>
          <a:p>
            <a:pPr>
              <a:lnSpc>
                <a:spcPct val="160000"/>
              </a:lnSpc>
              <a:buFont typeface="Wingdings" panose="05000000000000000000" pitchFamily="2" charset="2"/>
              <a:buChar char="Ø"/>
            </a:pPr>
            <a:endParaRPr lang="en-IN" b="1" dirty="0">
              <a:latin typeface="Cambria" panose="02040503050406030204" pitchFamily="18" charset="0"/>
              <a:ea typeface="Cambria" panose="02040503050406030204" pitchFamily="18" charset="0"/>
            </a:endParaRPr>
          </a:p>
          <a:p>
            <a:pPr>
              <a:lnSpc>
                <a:spcPct val="160000"/>
              </a:lnSpc>
            </a:pP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20615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Literature Review</a:t>
            </a:r>
          </a:p>
        </p:txBody>
      </p:sp>
      <p:sp>
        <p:nvSpPr>
          <p:cNvPr id="3" name="Content Placeholder 2"/>
          <p:cNvSpPr>
            <a:spLocks noGrp="1"/>
          </p:cNvSpPr>
          <p:nvPr>
            <p:ph idx="1"/>
          </p:nvPr>
        </p:nvSpPr>
        <p:spPr/>
        <p:txBody>
          <a:bodyPr>
            <a:normAutofit fontScale="92500" lnSpcReduction="20000"/>
          </a:bodyPr>
          <a:lstStyle/>
          <a:p>
            <a:pPr marL="0" indent="0" algn="ctr">
              <a:lnSpc>
                <a:spcPct val="170000"/>
              </a:lnSpc>
              <a:buNone/>
            </a:pPr>
            <a:r>
              <a:rPr lang="en-US" sz="3200" b="1" u="sng" dirty="0" smtClean="0">
                <a:latin typeface="Cambria" panose="02040503050406030204" pitchFamily="18" charset="0"/>
                <a:ea typeface="Cambria" panose="02040503050406030204" pitchFamily="18" charset="0"/>
              </a:rPr>
              <a:t>“BERT</a:t>
            </a:r>
            <a:r>
              <a:rPr lang="en-US" sz="3200" b="1" u="sng" dirty="0">
                <a:latin typeface="Cambria" panose="02040503050406030204" pitchFamily="18" charset="0"/>
                <a:ea typeface="Cambria" panose="02040503050406030204" pitchFamily="18" charset="0"/>
              </a:rPr>
              <a:t>: Pre-training of Deep Bidirectional Transformers for Language </a:t>
            </a:r>
            <a:r>
              <a:rPr lang="en-US" sz="3200" b="1" u="sng" dirty="0" smtClean="0">
                <a:latin typeface="Cambria" panose="02040503050406030204" pitchFamily="18" charset="0"/>
                <a:ea typeface="Cambria" panose="02040503050406030204" pitchFamily="18" charset="0"/>
              </a:rPr>
              <a:t>Understanding.”</a:t>
            </a:r>
          </a:p>
          <a:p>
            <a:pPr algn="just">
              <a:lnSpc>
                <a:spcPct val="170000"/>
              </a:lnSpc>
              <a:buFont typeface="Wingdings" panose="05000000000000000000" pitchFamily="2" charset="2"/>
              <a:buChar char="Ø"/>
            </a:pPr>
            <a:r>
              <a:rPr lang="en-IN" b="1" dirty="0" smtClean="0">
                <a:latin typeface="Cambria" panose="02040503050406030204" pitchFamily="18" charset="0"/>
                <a:ea typeface="Cambria" panose="02040503050406030204" pitchFamily="18" charset="0"/>
              </a:rPr>
              <a:t>Author </a:t>
            </a:r>
            <a:r>
              <a:rPr lang="en-IN" b="1"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Devlin</a:t>
            </a:r>
            <a:r>
              <a:rPr lang="fr-FR" dirty="0">
                <a:latin typeface="Cambria" panose="02040503050406030204" pitchFamily="18" charset="0"/>
                <a:ea typeface="Cambria" panose="02040503050406030204" pitchFamily="18" charset="0"/>
              </a:rPr>
              <a:t>, J., Chang, M. W., Lee, K., &amp; </a:t>
            </a:r>
            <a:r>
              <a:rPr lang="fr-FR" dirty="0" err="1">
                <a:latin typeface="Cambria" panose="02040503050406030204" pitchFamily="18" charset="0"/>
                <a:ea typeface="Cambria" panose="02040503050406030204" pitchFamily="18" charset="0"/>
              </a:rPr>
              <a:t>Toutanova</a:t>
            </a:r>
            <a:r>
              <a:rPr lang="fr-FR" dirty="0">
                <a:latin typeface="Cambria" panose="02040503050406030204" pitchFamily="18" charset="0"/>
                <a:ea typeface="Cambria" panose="02040503050406030204" pitchFamily="18" charset="0"/>
              </a:rPr>
              <a:t>, K</a:t>
            </a:r>
            <a:r>
              <a:rPr lang="fr-FR" dirty="0" smtClean="0">
                <a:latin typeface="Cambria" panose="02040503050406030204" pitchFamily="18" charset="0"/>
                <a:ea typeface="Cambria" panose="02040503050406030204" pitchFamily="18" charset="0"/>
              </a:rPr>
              <a:t>.</a:t>
            </a:r>
          </a:p>
          <a:p>
            <a:pPr>
              <a:buFont typeface="Wingdings" panose="05000000000000000000" pitchFamily="2" charset="2"/>
              <a:buChar char="Ø"/>
            </a:pPr>
            <a:r>
              <a:rPr lang="en-US" b="1" dirty="0">
                <a:latin typeface="Cambria" panose="02040503050406030204" pitchFamily="18" charset="0"/>
                <a:ea typeface="Cambria" panose="02040503050406030204" pitchFamily="18" charset="0"/>
              </a:rPr>
              <a:t>Algorithm Used</a:t>
            </a:r>
            <a:r>
              <a:rPr lang="en-US" dirty="0" smtClean="0">
                <a:latin typeface="Cambria" panose="02040503050406030204" pitchFamily="18" charset="0"/>
                <a:ea typeface="Cambria" panose="02040503050406030204" pitchFamily="18" charset="0"/>
              </a:rPr>
              <a:t>:</a:t>
            </a:r>
          </a:p>
          <a:p>
            <a:r>
              <a:rPr lang="en-US" b="1" dirty="0" smtClean="0">
                <a:latin typeface="Cambria" panose="02040503050406030204" pitchFamily="18" charset="0"/>
                <a:ea typeface="Cambria" panose="02040503050406030204" pitchFamily="18" charset="0"/>
              </a:rPr>
              <a:t>BERT </a:t>
            </a:r>
            <a:r>
              <a:rPr lang="en-US" b="1" dirty="0">
                <a:latin typeface="Cambria" panose="02040503050406030204" pitchFamily="18" charset="0"/>
                <a:ea typeface="Cambria" panose="02040503050406030204" pitchFamily="18" charset="0"/>
              </a:rPr>
              <a:t>(Bidirectional Encoder Representations from Transformers)</a:t>
            </a:r>
            <a:r>
              <a:rPr lang="en-US" dirty="0">
                <a:latin typeface="Cambria" panose="02040503050406030204" pitchFamily="18" charset="0"/>
                <a:ea typeface="Cambria" panose="02040503050406030204" pitchFamily="18" charset="0"/>
              </a:rPr>
              <a:t>: A pre-trained language model using bidirectional transformers that capture context from both directions of a sentence.</a:t>
            </a:r>
          </a:p>
          <a:p>
            <a:pPr>
              <a:buFont typeface="Wingdings" panose="05000000000000000000" pitchFamily="2" charset="2"/>
              <a:buChar char="Ø"/>
            </a:pPr>
            <a:r>
              <a:rPr lang="en-US" b="1" dirty="0">
                <a:latin typeface="Cambria" panose="02040503050406030204" pitchFamily="18" charset="0"/>
                <a:ea typeface="Cambria" panose="02040503050406030204" pitchFamily="18" charset="0"/>
              </a:rPr>
              <a:t>Drawbacks</a:t>
            </a:r>
            <a:r>
              <a:rPr lang="en-US" dirty="0" smtClean="0">
                <a:latin typeface="Cambria" panose="02040503050406030204" pitchFamily="18" charset="0"/>
                <a:ea typeface="Cambria" panose="02040503050406030204" pitchFamily="18" charset="0"/>
              </a:rPr>
              <a:t>:</a:t>
            </a:r>
          </a:p>
          <a:p>
            <a:r>
              <a:rPr lang="en-US" b="1" dirty="0" smtClean="0">
                <a:latin typeface="Cambria" panose="02040503050406030204" pitchFamily="18" charset="0"/>
                <a:ea typeface="Cambria" panose="02040503050406030204" pitchFamily="18" charset="0"/>
              </a:rPr>
              <a:t>Computational </a:t>
            </a:r>
            <a:r>
              <a:rPr lang="en-US" b="1" dirty="0">
                <a:latin typeface="Cambria" panose="02040503050406030204" pitchFamily="18" charset="0"/>
                <a:ea typeface="Cambria" panose="02040503050406030204" pitchFamily="18" charset="0"/>
              </a:rPr>
              <a:t>Cost</a:t>
            </a:r>
            <a:r>
              <a:rPr lang="en-US" dirty="0">
                <a:latin typeface="Cambria" panose="02040503050406030204" pitchFamily="18" charset="0"/>
                <a:ea typeface="Cambria" panose="02040503050406030204" pitchFamily="18" charset="0"/>
              </a:rPr>
              <a:t>: Fine-tuning BERT on specific tasks requires a lot of computational resources, including GPUs or TPUs.</a:t>
            </a:r>
          </a:p>
          <a:p>
            <a:r>
              <a:rPr lang="en-US" b="1" dirty="0">
                <a:latin typeface="Cambria" panose="02040503050406030204" pitchFamily="18" charset="0"/>
                <a:ea typeface="Cambria" panose="02040503050406030204" pitchFamily="18" charset="0"/>
              </a:rPr>
              <a:t>Inference Speed</a:t>
            </a:r>
            <a:r>
              <a:rPr lang="en-US" dirty="0">
                <a:latin typeface="Cambria" panose="02040503050406030204" pitchFamily="18" charset="0"/>
                <a:ea typeface="Cambria" panose="02040503050406030204" pitchFamily="18" charset="0"/>
              </a:rPr>
              <a:t>: BERT models are slow during inference due to their deep layers and the bidirectional nature of their architecture.</a:t>
            </a:r>
          </a:p>
          <a:p>
            <a:pPr marL="0" indent="0">
              <a:lnSpc>
                <a:spcPct val="160000"/>
              </a:lnSpc>
              <a:buNone/>
            </a:pPr>
            <a:endParaRPr lang="en-US" b="1" dirty="0">
              <a:latin typeface="Cambria" panose="02040503050406030204" pitchFamily="18" charset="0"/>
              <a:ea typeface="Cambria" panose="02040503050406030204" pitchFamily="18" charset="0"/>
            </a:endParaRPr>
          </a:p>
          <a:p>
            <a:pPr>
              <a:lnSpc>
                <a:spcPct val="160000"/>
              </a:lnSpc>
              <a:buFont typeface="Wingdings" panose="05000000000000000000" pitchFamily="2" charset="2"/>
              <a:buChar char="Ø"/>
            </a:pPr>
            <a:endParaRPr lang="en-IN" b="1" dirty="0">
              <a:latin typeface="Cambria" panose="02040503050406030204" pitchFamily="18" charset="0"/>
              <a:ea typeface="Cambria" panose="02040503050406030204" pitchFamily="18" charset="0"/>
            </a:endParaRPr>
          </a:p>
          <a:p>
            <a:pPr>
              <a:lnSpc>
                <a:spcPct val="160000"/>
              </a:lnSpc>
            </a:pP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0431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Research Gaps Identified</a:t>
            </a:r>
          </a:p>
        </p:txBody>
      </p:sp>
      <p:sp>
        <p:nvSpPr>
          <p:cNvPr id="3" name="Content Placeholder 2"/>
          <p:cNvSpPr>
            <a:spLocks noGrp="1"/>
          </p:cNvSpPr>
          <p:nvPr>
            <p:ph idx="1"/>
          </p:nvPr>
        </p:nvSpPr>
        <p:spPr>
          <a:xfrm>
            <a:off x="812800" y="1143001"/>
            <a:ext cx="10668000" cy="5193405"/>
          </a:xfrm>
        </p:spPr>
        <p:txBody>
          <a:bodyPr>
            <a:normAutofit fontScale="92500" lnSpcReduction="10000"/>
          </a:bodyPr>
          <a:lstStyle/>
          <a:p>
            <a:pPr marL="0" indent="0" algn="just">
              <a:lnSpc>
                <a:spcPct val="150000"/>
              </a:lnSpc>
              <a:buNone/>
            </a:pPr>
            <a:r>
              <a:rPr lang="en-US" dirty="0">
                <a:latin typeface="Cambria" panose="02040503050406030204" pitchFamily="18" charset="0"/>
                <a:ea typeface="Cambria" panose="02040503050406030204" pitchFamily="18" charset="0"/>
              </a:rPr>
              <a:t>In the context of building a </a:t>
            </a:r>
            <a:r>
              <a:rPr lang="en-US" b="1" dirty="0">
                <a:latin typeface="Cambria" panose="02040503050406030204" pitchFamily="18" charset="0"/>
                <a:ea typeface="Cambria" panose="02040503050406030204" pitchFamily="18" charset="0"/>
              </a:rPr>
              <a:t>Financial Causality Detection</a:t>
            </a:r>
            <a:r>
              <a:rPr lang="en-US" dirty="0">
                <a:latin typeface="Cambria" panose="02040503050406030204" pitchFamily="18" charset="0"/>
                <a:ea typeface="Cambria" panose="02040503050406030204" pitchFamily="18" charset="0"/>
              </a:rPr>
              <a:t> system using extractive and generative QA models, there are several potential </a:t>
            </a:r>
            <a:r>
              <a:rPr lang="en-US" b="1" dirty="0">
                <a:latin typeface="Cambria" panose="02040503050406030204" pitchFamily="18" charset="0"/>
                <a:ea typeface="Cambria" panose="02040503050406030204" pitchFamily="18" charset="0"/>
              </a:rPr>
              <a:t>research gaps</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areas for improvement</a:t>
            </a:r>
            <a:r>
              <a:rPr lang="en-US" dirty="0">
                <a:latin typeface="Cambria" panose="02040503050406030204" pitchFamily="18" charset="0"/>
                <a:ea typeface="Cambria" panose="02040503050406030204" pitchFamily="18" charset="0"/>
              </a:rPr>
              <a:t> that could be identified:</a:t>
            </a:r>
          </a:p>
          <a:p>
            <a:pPr algn="just">
              <a:lnSpc>
                <a:spcPct val="150000"/>
              </a:lnSpc>
              <a:buFont typeface="Wingdings" panose="05000000000000000000" pitchFamily="2" charset="2"/>
              <a:buChar char="Ø"/>
            </a:pPr>
            <a:r>
              <a:rPr lang="en-US" b="1" dirty="0" smtClean="0">
                <a:latin typeface="Cambria" panose="02040503050406030204" pitchFamily="18" charset="0"/>
                <a:ea typeface="Cambria" panose="02040503050406030204" pitchFamily="18" charset="0"/>
              </a:rPr>
              <a:t>Handling </a:t>
            </a:r>
            <a:r>
              <a:rPr lang="en-US" b="1" dirty="0">
                <a:latin typeface="Cambria" panose="02040503050406030204" pitchFamily="18" charset="0"/>
                <a:ea typeface="Cambria" panose="02040503050406030204" pitchFamily="18" charset="0"/>
              </a:rPr>
              <a:t>Ambiguity in Financial Text</a:t>
            </a:r>
          </a:p>
          <a:p>
            <a:pPr algn="just">
              <a:lnSpc>
                <a:spcPct val="150000"/>
              </a:lnSpc>
            </a:pPr>
            <a:r>
              <a:rPr lang="en-US" b="1" dirty="0">
                <a:latin typeface="Cambria" panose="02040503050406030204" pitchFamily="18" charset="0"/>
                <a:ea typeface="Cambria" panose="02040503050406030204" pitchFamily="18" charset="0"/>
              </a:rPr>
              <a:t>Gap</a:t>
            </a:r>
            <a:r>
              <a:rPr lang="en-US" dirty="0">
                <a:latin typeface="Cambria" panose="02040503050406030204" pitchFamily="18" charset="0"/>
                <a:ea typeface="Cambria" panose="02040503050406030204" pitchFamily="18" charset="0"/>
              </a:rPr>
              <a:t>: Financial disclosures often contain ambiguous or highly technical language that can be hard to interpret accurately. Current models like BERT or GPT-2, while powerful, may struggle with such complexity and subtlety.</a:t>
            </a:r>
          </a:p>
          <a:p>
            <a:pPr algn="just">
              <a:lnSpc>
                <a:spcPct val="150000"/>
              </a:lnSpc>
            </a:pPr>
            <a:r>
              <a:rPr lang="en-US" b="1" dirty="0">
                <a:latin typeface="Cambria" panose="02040503050406030204" pitchFamily="18" charset="0"/>
                <a:ea typeface="Cambria" panose="02040503050406030204" pitchFamily="18" charset="0"/>
              </a:rPr>
              <a:t>Research Focus</a:t>
            </a:r>
            <a:r>
              <a:rPr lang="en-US" dirty="0">
                <a:latin typeface="Cambria" panose="02040503050406030204" pitchFamily="18" charset="0"/>
                <a:ea typeface="Cambria" panose="02040503050406030204" pitchFamily="18" charset="0"/>
              </a:rPr>
              <a:t>: Developing more domain-specific models or fine-tuning existing models on large financial datasets to better capture the nuances of financial jargon, context, and causality.</a:t>
            </a:r>
          </a:p>
          <a:p>
            <a:pPr algn="just">
              <a:lnSpc>
                <a:spcPct val="150000"/>
              </a:lnSpc>
            </a:pP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95715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latin typeface="Cambria" panose="02040503050406030204" pitchFamily="18" charset="0"/>
                <a:ea typeface="Cambria" panose="02040503050406030204" pitchFamily="18" charset="0"/>
              </a:rPr>
              <a:t>Proposed Methodology</a:t>
            </a:r>
            <a:endParaRPr lang="en-GB" dirty="0">
              <a:latin typeface="Cambria" panose="02040503050406030204" pitchFamily="18" charset="0"/>
              <a:ea typeface="Cambria" panose="02040503050406030204" pitchFamily="18" charset="0"/>
            </a:endParaRPr>
          </a:p>
        </p:txBody>
      </p:sp>
      <p:sp>
        <p:nvSpPr>
          <p:cNvPr id="5" name="Rectangle 2"/>
          <p:cNvSpPr>
            <a:spLocks noGrp="1" noChangeArrowheads="1"/>
          </p:cNvSpPr>
          <p:nvPr>
            <p:ph idx="1"/>
          </p:nvPr>
        </p:nvSpPr>
        <p:spPr bwMode="auto">
          <a:xfrm>
            <a:off x="722648" y="1056069"/>
            <a:ext cx="10668000" cy="5068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Data Preprocessing</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Collect and clean financial disclosure documents in English and Spanish, focusing on aligning bilingual data and removing noise.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Hybrid QA Approach</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Combine </a:t>
            </a: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extractive QA</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(using models like BERT) to find specific causal statements with </a:t>
            </a: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generative QA</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(using models like GPT) for generating nuanced causal explanations.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Causal Relation Detection</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Use NLP techniques to detect causal cues (e.g., "because," "due to") and financial impact within the disclosures.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Fine-Tuning</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Fine-tune the models on financial datasets for better understanding of domain-specific causal relationships.</a:t>
            </a:r>
          </a:p>
        </p:txBody>
      </p:sp>
    </p:spTree>
    <p:extLst>
      <p:ext uri="{BB962C8B-B14F-4D97-AF65-F5344CB8AC3E}">
        <p14:creationId xmlns:p14="http://schemas.microsoft.com/office/powerpoint/2010/main" val="2659618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Objectives</a:t>
            </a:r>
          </a:p>
        </p:txBody>
      </p:sp>
      <p:sp>
        <p:nvSpPr>
          <p:cNvPr id="5" name="Rectangle 2"/>
          <p:cNvSpPr>
            <a:spLocks noGrp="1" noChangeArrowheads="1"/>
          </p:cNvSpPr>
          <p:nvPr>
            <p:ph idx="1"/>
          </p:nvPr>
        </p:nvSpPr>
        <p:spPr bwMode="auto">
          <a:xfrm>
            <a:off x="709770" y="374386"/>
            <a:ext cx="10198636" cy="5563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Develop a hybrid QA system that detects causal relationships from financial disclosures using extractive and generative models.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Ensure the system works for both English and Spanish languages.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Automate the analysis of financial disclosures to reduce manual effort and improve accuracy.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Provide both verbatim extractive answers and creative generative answers for complex causal relationships.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Improve scalability by enabling the system to analyze large datasets efficiently. </a:t>
            </a:r>
          </a:p>
        </p:txBody>
      </p:sp>
    </p:spTree>
    <p:extLst>
      <p:ext uri="{BB962C8B-B14F-4D97-AF65-F5344CB8AC3E}">
        <p14:creationId xmlns:p14="http://schemas.microsoft.com/office/powerpoint/2010/main" val="2666729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Methodology/Modules</a:t>
            </a:r>
          </a:p>
        </p:txBody>
      </p:sp>
      <p:sp>
        <p:nvSpPr>
          <p:cNvPr id="10" name="Rectangle 4"/>
          <p:cNvSpPr>
            <a:spLocks noGrp="1" noChangeArrowheads="1"/>
          </p:cNvSpPr>
          <p:nvPr>
            <p:ph idx="1"/>
          </p:nvPr>
        </p:nvSpPr>
        <p:spPr bwMode="auto">
          <a:xfrm>
            <a:off x="636105" y="965961"/>
            <a:ext cx="11211338" cy="572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Text Preprocessing</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Use </a:t>
            </a:r>
            <a:r>
              <a:rPr kumimoji="0" lang="en-US" sz="20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SpaCy</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to tokenize and clean the input text.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Preprocess input context based on language selection (English or Spanish).</a:t>
            </a:r>
          </a:p>
          <a:p>
            <a:pPr marL="0" marR="0" lvl="0" indent="0" algn="just" defTabSz="914400" rtl="0" eaLnBrk="0" fontAlgn="base" latinLnBrk="0" hangingPunct="0">
              <a:lnSpc>
                <a:spcPct val="150000"/>
              </a:lnSpc>
              <a:spcBef>
                <a:spcPct val="0"/>
              </a:spcBef>
              <a:spcAft>
                <a:spcPct val="0"/>
              </a:spcAft>
              <a:buClrTx/>
              <a:buSzTx/>
              <a:buNone/>
              <a:tabLst/>
            </a:pP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Extractive QA</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Use </a:t>
            </a:r>
            <a:r>
              <a:rPr kumimoji="0" lang="en-US" sz="20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RoBERTa</a:t>
            </a: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t>
            </a:r>
            <a:r>
              <a:rPr kumimoji="0" lang="en-US" sz="20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deepset</a:t>
            </a: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/roberta-base-squad2)</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for extractive question-answering to find exact matches from the context.</a:t>
            </a:r>
          </a:p>
          <a:p>
            <a:pPr marL="0" marR="0" lvl="0" indent="0" algn="just" defTabSz="914400" rtl="0" eaLnBrk="0" fontAlgn="base" latinLnBrk="0" hangingPunct="0">
              <a:lnSpc>
                <a:spcPct val="150000"/>
              </a:lnSpc>
              <a:spcBef>
                <a:spcPct val="0"/>
              </a:spcBef>
              <a:spcAft>
                <a:spcPct val="0"/>
              </a:spcAft>
              <a:buClrTx/>
              <a:buSzTx/>
              <a:buNone/>
              <a:tabLst/>
            </a:pP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Generative QA</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Use </a:t>
            </a: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GPT-2</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to generate creative answers for questions that require abstract inferences.</a:t>
            </a:r>
          </a:p>
          <a:p>
            <a:pPr marL="0" marR="0" lvl="0" indent="0" algn="just" defTabSz="914400" rtl="0" eaLnBrk="0" fontAlgn="base" latinLnBrk="0" hangingPunct="0">
              <a:lnSpc>
                <a:spcPct val="150000"/>
              </a:lnSpc>
              <a:spcBef>
                <a:spcPct val="0"/>
              </a:spcBef>
              <a:spcAft>
                <a:spcPct val="0"/>
              </a:spcAft>
              <a:buClrTx/>
              <a:buSzTx/>
              <a:buNone/>
              <a:tabLst/>
            </a:pPr>
            <a:r>
              <a:rPr kumimoji="0" lang="en-US" sz="20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Hybrid Approach</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Combine the extractive and generative answers to provide a complete understanding of the causal relationship.</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14944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System design and Implementation</a:t>
            </a:r>
          </a:p>
        </p:txBody>
      </p:sp>
      <p:sp>
        <p:nvSpPr>
          <p:cNvPr id="10" name="Rectangle 4"/>
          <p:cNvSpPr>
            <a:spLocks noGrp="1" noChangeArrowheads="1"/>
          </p:cNvSpPr>
          <p:nvPr>
            <p:ph idx="1"/>
          </p:nvPr>
        </p:nvSpPr>
        <p:spPr bwMode="auto">
          <a:xfrm>
            <a:off x="812800" y="976148"/>
            <a:ext cx="11211338" cy="518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US" b="1" dirty="0" smtClean="0">
                <a:latin typeface="Cambria" panose="02040503050406030204" pitchFamily="18" charset="0"/>
                <a:ea typeface="Cambria" panose="02040503050406030204" pitchFamily="18" charset="0"/>
              </a:rPr>
              <a:t>Frontend </a:t>
            </a:r>
            <a:r>
              <a:rPr lang="en-US" b="1" dirty="0">
                <a:latin typeface="Cambria" panose="02040503050406030204" pitchFamily="18" charset="0"/>
                <a:ea typeface="Cambria" panose="02040503050406030204" pitchFamily="18" charset="0"/>
              </a:rPr>
              <a:t>(User Interface)</a:t>
            </a:r>
          </a:p>
          <a:p>
            <a:r>
              <a:rPr lang="en-US" dirty="0">
                <a:latin typeface="Cambria" panose="02040503050406030204" pitchFamily="18" charset="0"/>
                <a:ea typeface="Cambria" panose="02040503050406030204" pitchFamily="18" charset="0"/>
              </a:rPr>
              <a:t>A web-based interface where users can input financial disclosures and ask questions.</a:t>
            </a:r>
          </a:p>
          <a:p>
            <a:r>
              <a:rPr lang="en-US" dirty="0">
                <a:latin typeface="Cambria" panose="02040503050406030204" pitchFamily="18" charset="0"/>
                <a:ea typeface="Cambria" panose="02040503050406030204" pitchFamily="18" charset="0"/>
              </a:rPr>
              <a:t>The frontend will:</a:t>
            </a:r>
          </a:p>
          <a:p>
            <a:pPr lvl="1"/>
            <a:r>
              <a:rPr lang="en-US" dirty="0">
                <a:latin typeface="Cambria" panose="02040503050406030204" pitchFamily="18" charset="0"/>
                <a:ea typeface="Cambria" panose="02040503050406030204" pitchFamily="18" charset="0"/>
              </a:rPr>
              <a:t>Allow users to upload financial text (disclosures, reports).</a:t>
            </a:r>
          </a:p>
          <a:p>
            <a:pPr lvl="1"/>
            <a:r>
              <a:rPr lang="en-US" dirty="0">
                <a:latin typeface="Cambria" panose="02040503050406030204" pitchFamily="18" charset="0"/>
                <a:ea typeface="Cambria" panose="02040503050406030204" pitchFamily="18" charset="0"/>
              </a:rPr>
              <a:t>Ask specific questions related to causality.</a:t>
            </a:r>
          </a:p>
          <a:p>
            <a:pPr lvl="1"/>
            <a:r>
              <a:rPr lang="en-US" dirty="0">
                <a:latin typeface="Cambria" panose="02040503050406030204" pitchFamily="18" charset="0"/>
                <a:ea typeface="Cambria" panose="02040503050406030204" pitchFamily="18" charset="0"/>
              </a:rPr>
              <a:t>Select the language (English/Spanish).</a:t>
            </a:r>
          </a:p>
          <a:p>
            <a:pPr lvl="1"/>
            <a:r>
              <a:rPr lang="en-US" dirty="0">
                <a:latin typeface="Cambria" panose="02040503050406030204" pitchFamily="18" charset="0"/>
                <a:ea typeface="Cambria" panose="02040503050406030204" pitchFamily="18" charset="0"/>
              </a:rPr>
              <a:t>Display both </a:t>
            </a:r>
            <a:r>
              <a:rPr lang="en-US" b="1" dirty="0">
                <a:latin typeface="Cambria" panose="02040503050406030204" pitchFamily="18" charset="0"/>
                <a:ea typeface="Cambria" panose="02040503050406030204" pitchFamily="18" charset="0"/>
              </a:rPr>
              <a:t>extractive</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generative</a:t>
            </a:r>
            <a:r>
              <a:rPr lang="en-US" dirty="0">
                <a:latin typeface="Cambria" panose="02040503050406030204" pitchFamily="18" charset="0"/>
                <a:ea typeface="Cambria" panose="02040503050406030204" pitchFamily="18" charset="0"/>
              </a:rPr>
              <a:t> answers to the users.</a:t>
            </a:r>
          </a:p>
          <a:p>
            <a:pPr>
              <a:buFont typeface="Wingdings" panose="05000000000000000000" pitchFamily="2" charset="2"/>
              <a:buChar char="Ø"/>
            </a:pPr>
            <a:r>
              <a:rPr lang="en-US" b="1" dirty="0" smtClean="0">
                <a:latin typeface="Cambria" panose="02040503050406030204" pitchFamily="18" charset="0"/>
                <a:ea typeface="Cambria" panose="02040503050406030204" pitchFamily="18" charset="0"/>
              </a:rPr>
              <a:t>Backend </a:t>
            </a:r>
            <a:r>
              <a:rPr lang="en-US" b="1" dirty="0">
                <a:latin typeface="Cambria" panose="02040503050406030204" pitchFamily="18" charset="0"/>
                <a:ea typeface="Cambria" panose="02040503050406030204" pitchFamily="18" charset="0"/>
              </a:rPr>
              <a:t>(API and Logic Layer)</a:t>
            </a:r>
          </a:p>
          <a:p>
            <a:r>
              <a:rPr lang="en-US" dirty="0">
                <a:latin typeface="Cambria" panose="02040503050406030204" pitchFamily="18" charset="0"/>
                <a:ea typeface="Cambria" panose="02040503050406030204" pitchFamily="18" charset="0"/>
              </a:rPr>
              <a:t>This is where the core logic resides, such as:</a:t>
            </a:r>
          </a:p>
          <a:p>
            <a:pPr lvl="1"/>
            <a:r>
              <a:rPr lang="en-US" dirty="0" smtClean="0">
                <a:latin typeface="Cambria" panose="02040503050406030204" pitchFamily="18" charset="0"/>
                <a:ea typeface="Cambria" panose="02040503050406030204" pitchFamily="18" charset="0"/>
              </a:rPr>
              <a:t>Running </a:t>
            </a:r>
            <a:r>
              <a:rPr lang="en-US" dirty="0">
                <a:latin typeface="Cambria" panose="02040503050406030204" pitchFamily="18" charset="0"/>
                <a:ea typeface="Cambria" panose="02040503050406030204" pitchFamily="18" charset="0"/>
              </a:rPr>
              <a:t>the extractive and generative QA models.</a:t>
            </a:r>
          </a:p>
          <a:p>
            <a:pPr lvl="1"/>
            <a:r>
              <a:rPr lang="en-US" dirty="0">
                <a:latin typeface="Cambria" panose="02040503050406030204" pitchFamily="18" charset="0"/>
                <a:ea typeface="Cambria" panose="02040503050406030204" pitchFamily="18" charset="0"/>
              </a:rPr>
              <a:t>Detecting causal relationships in the financial disclosures.</a:t>
            </a:r>
          </a:p>
          <a:p>
            <a:pPr lvl="1"/>
            <a:r>
              <a:rPr lang="en-US" dirty="0">
                <a:latin typeface="Cambria" panose="02040503050406030204" pitchFamily="18" charset="0"/>
                <a:ea typeface="Cambria" panose="02040503050406030204" pitchFamily="18" charset="0"/>
              </a:rPr>
              <a:t>Returning the results to the frontend.</a:t>
            </a:r>
          </a:p>
        </p:txBody>
      </p:sp>
    </p:spTree>
    <p:extLst>
      <p:ext uri="{BB962C8B-B14F-4D97-AF65-F5344CB8AC3E}">
        <p14:creationId xmlns:p14="http://schemas.microsoft.com/office/powerpoint/2010/main" val="2787589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55A156-B1FC-CA07-89DA-0BCF63C14900}"/>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Architecture</a:t>
            </a:r>
            <a:endParaRPr lang="en-IN"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xmlns="" id="{E247C48A-A695-CEA8-2CD0-BD39108BAB2F}"/>
              </a:ext>
            </a:extLst>
          </p:cNvPr>
          <p:cNvSpPr>
            <a:spLocks noGrp="1"/>
          </p:cNvSpPr>
          <p:nvPr>
            <p:ph idx="1"/>
          </p:nvPr>
        </p:nvSpPr>
        <p:spPr/>
        <p:txBody>
          <a:bodyPr>
            <a:normAutofit fontScale="92500"/>
          </a:bodyPr>
          <a:lstStyle/>
          <a:p>
            <a:pPr marL="0" indent="0" algn="just">
              <a:lnSpc>
                <a:spcPct val="150000"/>
              </a:lnSpc>
              <a:buNone/>
            </a:pPr>
            <a:r>
              <a:rPr lang="en-US" b="1" dirty="0">
                <a:latin typeface="Cambria" panose="02040503050406030204" pitchFamily="18" charset="0"/>
                <a:ea typeface="Cambria" panose="02040503050406030204" pitchFamily="18" charset="0"/>
              </a:rPr>
              <a:t>User Interface</a:t>
            </a:r>
            <a:r>
              <a:rPr lang="en-US" dirty="0">
                <a:latin typeface="Cambria" panose="02040503050406030204" pitchFamily="18" charset="0"/>
                <a:ea typeface="Cambria" panose="02040503050406030204" pitchFamily="18" charset="0"/>
              </a:rPr>
              <a:t>:</a:t>
            </a:r>
          </a:p>
          <a:p>
            <a:pPr algn="just">
              <a:lnSpc>
                <a:spcPct val="150000"/>
              </a:lnSpc>
            </a:pPr>
            <a:r>
              <a:rPr lang="en-US" dirty="0">
                <a:latin typeface="Cambria" panose="02040503050406030204" pitchFamily="18" charset="0"/>
                <a:ea typeface="Cambria" panose="02040503050406030204" pitchFamily="18" charset="0"/>
              </a:rPr>
              <a:t>Users input financial documents and ask questions via a web interface.</a:t>
            </a:r>
          </a:p>
          <a:p>
            <a:pPr algn="just">
              <a:lnSpc>
                <a:spcPct val="150000"/>
              </a:lnSpc>
            </a:pPr>
            <a:r>
              <a:rPr lang="en-US" dirty="0">
                <a:latin typeface="Cambria" panose="02040503050406030204" pitchFamily="18" charset="0"/>
                <a:ea typeface="Cambria" panose="02040503050406030204" pitchFamily="18" charset="0"/>
              </a:rPr>
              <a:t>Choose language (English/Spanish).</a:t>
            </a:r>
          </a:p>
          <a:p>
            <a:pPr marL="0" indent="0" algn="just">
              <a:lnSpc>
                <a:spcPct val="150000"/>
              </a:lnSpc>
              <a:buNone/>
            </a:pPr>
            <a:r>
              <a:rPr lang="en-US" b="1" dirty="0">
                <a:latin typeface="Cambria" panose="02040503050406030204" pitchFamily="18" charset="0"/>
                <a:ea typeface="Cambria" panose="02040503050406030204" pitchFamily="18" charset="0"/>
              </a:rPr>
              <a:t>Preprocessing Module</a:t>
            </a:r>
            <a:r>
              <a:rPr lang="en-US" dirty="0">
                <a:latin typeface="Cambria" panose="02040503050406030204" pitchFamily="18" charset="0"/>
                <a:ea typeface="Cambria" panose="02040503050406030204" pitchFamily="18" charset="0"/>
              </a:rPr>
              <a:t>:</a:t>
            </a:r>
          </a:p>
          <a:p>
            <a:pPr algn="just">
              <a:lnSpc>
                <a:spcPct val="150000"/>
              </a:lnSpc>
            </a:pPr>
            <a:r>
              <a:rPr lang="en-US" dirty="0">
                <a:latin typeface="Cambria" panose="02040503050406030204" pitchFamily="18" charset="0"/>
                <a:ea typeface="Cambria" panose="02040503050406030204" pitchFamily="18" charset="0"/>
              </a:rPr>
              <a:t>Preprocesses text using </a:t>
            </a:r>
            <a:r>
              <a:rPr lang="en-US" dirty="0" err="1">
                <a:latin typeface="Cambria" panose="02040503050406030204" pitchFamily="18" charset="0"/>
                <a:ea typeface="Cambria" panose="02040503050406030204" pitchFamily="18" charset="0"/>
              </a:rPr>
              <a:t>SpaCy</a:t>
            </a:r>
            <a:r>
              <a:rPr lang="en-US" dirty="0">
                <a:latin typeface="Cambria" panose="02040503050406030204" pitchFamily="18" charset="0"/>
                <a:ea typeface="Cambria" panose="02040503050406030204" pitchFamily="18" charset="0"/>
              </a:rPr>
              <a:t> for tokenization and language-specific cleaning.</a:t>
            </a:r>
          </a:p>
          <a:p>
            <a:pPr marL="0" indent="0" algn="just">
              <a:lnSpc>
                <a:spcPct val="150000"/>
              </a:lnSpc>
              <a:buNone/>
            </a:pPr>
            <a:r>
              <a:rPr lang="en-US" b="1" dirty="0">
                <a:latin typeface="Cambria" panose="02040503050406030204" pitchFamily="18" charset="0"/>
                <a:ea typeface="Cambria" panose="02040503050406030204" pitchFamily="18" charset="0"/>
              </a:rPr>
              <a:t>QA System</a:t>
            </a:r>
            <a:r>
              <a:rPr lang="en-US" dirty="0">
                <a:latin typeface="Cambria" panose="02040503050406030204" pitchFamily="18" charset="0"/>
                <a:ea typeface="Cambria" panose="02040503050406030204" pitchFamily="18" charset="0"/>
              </a:rPr>
              <a:t>:</a:t>
            </a:r>
          </a:p>
          <a:p>
            <a:pPr algn="just">
              <a:lnSpc>
                <a:spcPct val="150000"/>
              </a:lnSpc>
            </a:pPr>
            <a:r>
              <a:rPr lang="en-US" b="1" dirty="0">
                <a:latin typeface="Cambria" panose="02040503050406030204" pitchFamily="18" charset="0"/>
                <a:ea typeface="Cambria" panose="02040503050406030204" pitchFamily="18" charset="0"/>
              </a:rPr>
              <a:t>Extractive QA</a:t>
            </a:r>
            <a:r>
              <a:rPr lang="en-US" dirty="0">
                <a:latin typeface="Cambria" panose="02040503050406030204" pitchFamily="18" charset="0"/>
                <a:ea typeface="Cambria" panose="02040503050406030204" pitchFamily="18" charset="0"/>
              </a:rPr>
              <a:t>: Uses </a:t>
            </a:r>
            <a:r>
              <a:rPr lang="en-US" dirty="0" err="1">
                <a:latin typeface="Cambria" panose="02040503050406030204" pitchFamily="18" charset="0"/>
                <a:ea typeface="Cambria" panose="02040503050406030204" pitchFamily="18" charset="0"/>
              </a:rPr>
              <a:t>RoBERTa</a:t>
            </a:r>
            <a:r>
              <a:rPr lang="en-US" dirty="0">
                <a:latin typeface="Cambria" panose="02040503050406030204" pitchFamily="18" charset="0"/>
                <a:ea typeface="Cambria" panose="02040503050406030204" pitchFamily="18" charset="0"/>
              </a:rPr>
              <a:t> to extract exact answers from the text.</a:t>
            </a:r>
          </a:p>
          <a:p>
            <a:pPr algn="just">
              <a:lnSpc>
                <a:spcPct val="150000"/>
              </a:lnSpc>
            </a:pPr>
            <a:r>
              <a:rPr lang="en-US" b="1" dirty="0">
                <a:latin typeface="Cambria" panose="02040503050406030204" pitchFamily="18" charset="0"/>
                <a:ea typeface="Cambria" panose="02040503050406030204" pitchFamily="18" charset="0"/>
              </a:rPr>
              <a:t>Generative QA</a:t>
            </a:r>
            <a:r>
              <a:rPr lang="en-US" dirty="0">
                <a:latin typeface="Cambria" panose="02040503050406030204" pitchFamily="18" charset="0"/>
                <a:ea typeface="Cambria" panose="02040503050406030204" pitchFamily="18" charset="0"/>
              </a:rPr>
              <a:t>: Uses GPT-2 to generate creative answers.</a:t>
            </a:r>
          </a:p>
        </p:txBody>
      </p:sp>
    </p:spTree>
    <p:extLst>
      <p:ext uri="{BB962C8B-B14F-4D97-AF65-F5344CB8AC3E}">
        <p14:creationId xmlns:p14="http://schemas.microsoft.com/office/powerpoint/2010/main" val="593898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1B97FD-7A7C-F5A7-82F8-E665F49E37A5}"/>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Hardware/software components</a:t>
            </a:r>
            <a:endParaRPr lang="en-IN" dirty="0">
              <a:latin typeface="Cambria" panose="02040503050406030204" pitchFamily="18" charset="0"/>
              <a:ea typeface="Cambria" panose="02040503050406030204" pitchFamily="18" charset="0"/>
            </a:endParaRPr>
          </a:p>
        </p:txBody>
      </p:sp>
      <p:sp>
        <p:nvSpPr>
          <p:cNvPr id="5" name="Rectangle 2"/>
          <p:cNvSpPr>
            <a:spLocks noGrp="1" noChangeArrowheads="1"/>
          </p:cNvSpPr>
          <p:nvPr>
            <p:ph idx="1"/>
          </p:nvPr>
        </p:nvSpPr>
        <p:spPr bwMode="auto">
          <a:xfrm>
            <a:off x="812800" y="849512"/>
            <a:ext cx="7731219"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Hardware</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CPU: 2.4 GHz (Quad-Core or higher)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Memory: Minimum 16GB RAM</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Disk: Minimum 256GB SSD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GPU (Optional for faster inference): NVIDIA GPU with CUDA support</a:t>
            </a:r>
          </a:p>
          <a:p>
            <a:pPr marL="0" marR="0" lvl="0" indent="0" algn="l" defTabSz="914400" rtl="0" eaLnBrk="0" fontAlgn="base" latinLnBrk="0" hangingPunct="0">
              <a:lnSpc>
                <a:spcPct val="150000"/>
              </a:lnSpc>
              <a:spcBef>
                <a:spcPct val="0"/>
              </a:spcBef>
              <a:spcAft>
                <a:spcPct val="0"/>
              </a:spcAft>
              <a:buClrTx/>
              <a:buSzTx/>
              <a:buNone/>
              <a:tabLst/>
            </a:pPr>
            <a:r>
              <a:rPr kumimoji="0" lang="en-US"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Software</a:t>
            </a:r>
            <a:r>
              <a:rPr kumimoji="0" lang="en-US"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Python 3.x</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Django</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3.x</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PyTorch</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for deep learning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SpaCy</a:t>
            </a: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for text preprocessing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0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Hugging Face’s transformers library for QA models</a:t>
            </a:r>
          </a:p>
        </p:txBody>
      </p:sp>
    </p:spTree>
    <p:extLst>
      <p:ext uri="{BB962C8B-B14F-4D97-AF65-F5344CB8AC3E}">
        <p14:creationId xmlns:p14="http://schemas.microsoft.com/office/powerpoint/2010/main" val="82555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Timeline of Project</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9314" y="1143000"/>
            <a:ext cx="8134971" cy="4953000"/>
          </a:xfrm>
        </p:spPr>
      </p:pic>
    </p:spTree>
    <p:extLst>
      <p:ext uri="{BB962C8B-B14F-4D97-AF65-F5344CB8AC3E}">
        <p14:creationId xmlns:p14="http://schemas.microsoft.com/office/powerpoint/2010/main" val="3677332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Expected Outcomes</a:t>
            </a:r>
          </a:p>
        </p:txBody>
      </p:sp>
      <p:sp>
        <p:nvSpPr>
          <p:cNvPr id="3" name="Content Placeholder 2"/>
          <p:cNvSpPr>
            <a:spLocks noGrp="1"/>
          </p:cNvSpPr>
          <p:nvPr>
            <p:ph idx="1"/>
          </p:nvPr>
        </p:nvSpPr>
        <p:spPr/>
        <p:txBody>
          <a:bodyPr>
            <a:normAutofit/>
          </a:bodyPr>
          <a:lstStyle/>
          <a:p>
            <a:pPr algn="just">
              <a:lnSpc>
                <a:spcPct val="150000"/>
              </a:lnSpc>
            </a:pPr>
            <a:r>
              <a:rPr lang="en-US" b="1" dirty="0">
                <a:latin typeface="Cambria" panose="02040503050406030204" pitchFamily="18" charset="0"/>
                <a:ea typeface="Cambria" panose="02040503050406030204" pitchFamily="18" charset="0"/>
              </a:rPr>
              <a:t>Improved Efficiency</a:t>
            </a:r>
            <a:r>
              <a:rPr lang="en-US" dirty="0">
                <a:latin typeface="Cambria" panose="02040503050406030204" pitchFamily="18" charset="0"/>
                <a:ea typeface="Cambria" panose="02040503050406030204" pitchFamily="18" charset="0"/>
              </a:rPr>
              <a:t>: The system will automate financial causality detection, reducing manual effort</a:t>
            </a:r>
            <a:r>
              <a:rPr lang="en-US" dirty="0" smtClean="0">
                <a:latin typeface="Cambria" panose="02040503050406030204" pitchFamily="18" charset="0"/>
                <a:ea typeface="Cambria" panose="02040503050406030204" pitchFamily="18" charset="0"/>
              </a:rPr>
              <a:t>.</a:t>
            </a:r>
          </a:p>
          <a:p>
            <a:pPr algn="just">
              <a:lnSpc>
                <a:spcPct val="150000"/>
              </a:lnSpc>
            </a:pPr>
            <a:r>
              <a:rPr lang="en-US" b="1" dirty="0">
                <a:latin typeface="Cambria" panose="02040503050406030204" pitchFamily="18" charset="0"/>
                <a:ea typeface="Cambria" panose="02040503050406030204" pitchFamily="18" charset="0"/>
              </a:rPr>
              <a:t>Multilingual Support</a:t>
            </a:r>
            <a:r>
              <a:rPr lang="en-US" dirty="0">
                <a:latin typeface="Cambria" panose="02040503050406030204" pitchFamily="18" charset="0"/>
                <a:ea typeface="Cambria" panose="02040503050406030204" pitchFamily="18" charset="0"/>
              </a:rPr>
              <a:t>: Support for both English and Spanish will expand the system’s applicability in diverse markets</a:t>
            </a:r>
            <a:r>
              <a:rPr lang="en-US" dirty="0" smtClean="0">
                <a:latin typeface="Cambria" panose="02040503050406030204" pitchFamily="18" charset="0"/>
                <a:ea typeface="Cambria" panose="02040503050406030204" pitchFamily="18" charset="0"/>
              </a:rPr>
              <a:t>.</a:t>
            </a:r>
          </a:p>
          <a:p>
            <a:pPr algn="just">
              <a:lnSpc>
                <a:spcPct val="150000"/>
              </a:lnSpc>
            </a:pPr>
            <a:r>
              <a:rPr lang="en-US" b="1" dirty="0">
                <a:latin typeface="Cambria" panose="02040503050406030204" pitchFamily="18" charset="0"/>
                <a:ea typeface="Cambria" panose="02040503050406030204" pitchFamily="18" charset="0"/>
              </a:rPr>
              <a:t>Accurate Causal Detection</a:t>
            </a:r>
            <a:r>
              <a:rPr lang="en-US" dirty="0">
                <a:latin typeface="Cambria" panose="02040503050406030204" pitchFamily="18" charset="0"/>
                <a:ea typeface="Cambria" panose="02040503050406030204" pitchFamily="18" charset="0"/>
              </a:rPr>
              <a:t>: The hybrid approach will provide both accurate extractive answers and insightful generative answers</a:t>
            </a:r>
            <a:r>
              <a:rPr lang="en-US" dirty="0" smtClean="0">
                <a:latin typeface="Cambria" panose="02040503050406030204" pitchFamily="18" charset="0"/>
                <a:ea typeface="Cambria" panose="02040503050406030204" pitchFamily="18" charset="0"/>
              </a:rPr>
              <a:t>.</a:t>
            </a:r>
          </a:p>
          <a:p>
            <a:pPr algn="just">
              <a:lnSpc>
                <a:spcPct val="150000"/>
              </a:lnSpc>
            </a:pPr>
            <a:r>
              <a:rPr lang="en-US" b="1" dirty="0">
                <a:latin typeface="Cambria" panose="02040503050406030204" pitchFamily="18" charset="0"/>
                <a:ea typeface="Cambria" panose="02040503050406030204" pitchFamily="18" charset="0"/>
              </a:rPr>
              <a:t>Scalability</a:t>
            </a:r>
            <a:r>
              <a:rPr lang="en-US" dirty="0">
                <a:latin typeface="Cambria" panose="02040503050406030204" pitchFamily="18" charset="0"/>
                <a:ea typeface="Cambria" panose="02040503050406030204" pitchFamily="18" charset="0"/>
              </a:rPr>
              <a:t>: The system will be capable of analyzing large financial datasets efficiently, making it suitable for enterprise-level applications.</a:t>
            </a: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23928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Conclusion</a:t>
            </a:r>
          </a:p>
        </p:txBody>
      </p:sp>
      <p:sp>
        <p:nvSpPr>
          <p:cNvPr id="3" name="Content Placeholder 2"/>
          <p:cNvSpPr>
            <a:spLocks noGrp="1"/>
          </p:cNvSpPr>
          <p:nvPr>
            <p:ph idx="1"/>
          </p:nvPr>
        </p:nvSpPr>
        <p:spPr/>
        <p:txBody>
          <a:bodyPr>
            <a:normAutofit/>
          </a:bodyPr>
          <a:lstStyle/>
          <a:p>
            <a:pPr marL="0" indent="0" algn="just">
              <a:lnSpc>
                <a:spcPct val="150000"/>
              </a:lnSpc>
              <a:buNone/>
            </a:pPr>
            <a:r>
              <a:rPr lang="en-US" dirty="0">
                <a:latin typeface="Cambria" panose="02040503050406030204" pitchFamily="18" charset="0"/>
                <a:ea typeface="Cambria" panose="02040503050406030204" pitchFamily="18" charset="0"/>
              </a:rPr>
              <a:t>The proposed financial causality detection system offers an innovative hybrid QA approach that combines extractive and generative models to uncover cause-effect relationships in financial disclosures. By leveraging state-of-the-art NLP techniques like </a:t>
            </a:r>
            <a:r>
              <a:rPr lang="en-US" b="1" dirty="0" err="1">
                <a:latin typeface="Cambria" panose="02040503050406030204" pitchFamily="18" charset="0"/>
                <a:ea typeface="Cambria" panose="02040503050406030204" pitchFamily="18" charset="0"/>
              </a:rPr>
              <a:t>RoBERTa</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GPT-2</a:t>
            </a:r>
            <a:r>
              <a:rPr lang="en-US" dirty="0">
                <a:latin typeface="Cambria" panose="02040503050406030204" pitchFamily="18" charset="0"/>
                <a:ea typeface="Cambria" panose="02040503050406030204" pitchFamily="18" charset="0"/>
              </a:rPr>
              <a:t>, the system provides both exact and creative insights into financial data, making it a valuable tool for businesses, regulators, and financial analysts. The solution’s multilingual capability further enhances its usability across different regions and languages, making it a comprehensive solution for financial analysis.</a:t>
            </a: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38571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a:t>
            </a:r>
          </a:p>
        </p:txBody>
      </p:sp>
      <p:sp>
        <p:nvSpPr>
          <p:cNvPr id="5" name="Rectangle 2"/>
          <p:cNvSpPr>
            <a:spLocks noGrp="1" noChangeArrowheads="1"/>
          </p:cNvSpPr>
          <p:nvPr>
            <p:ph idx="1"/>
          </p:nvPr>
        </p:nvSpPr>
        <p:spPr bwMode="auto">
          <a:xfrm>
            <a:off x="682580" y="1065565"/>
            <a:ext cx="10798220" cy="5107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Goodfellow, I.,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Bengio</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Y., &amp;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Courville</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 (2016).</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Deep Learning. MIT Press.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Vaswani</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Shazeer</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N.,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Parmar</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N., et al. (2017).</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Attention is All You Need. Advances in Neural Information Processing Systems, 30, 5998-6008.</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Devlin, J., Chang, M. W., Lee, K., &amp;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Toutanova</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K. (2019).</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BERT: Pre-training of Deep Bidirectional Transformers for Language Understanding. NAACL-HLT.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Radford, A., Wu, J., Child, R., Luan, D.,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Amodei</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D., &amp;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Sutskever</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I. (2019).</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Language Models are Unsupervised Multitask Learners. </a:t>
            </a:r>
            <a:r>
              <a:rPr kumimoji="0" lang="en-US" sz="2200" b="0"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OpenAI</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Blog.</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Rajpurkar</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P., </a:t>
            </a:r>
            <a:r>
              <a:rPr kumimoji="0" lang="en-US" sz="2200" b="1"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Jia</a:t>
            </a:r>
            <a:r>
              <a:rPr kumimoji="0" lang="en-US" sz="2200" b="1"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R., Liang, P. (2018).</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Know What You Don't Know: Unanswerable Questions for </a:t>
            </a:r>
            <a:r>
              <a:rPr kumimoji="0" lang="en-US" sz="2200" b="0" i="0" u="none" strike="noStrike" cap="none" normalizeH="0" baseline="0" dirty="0" err="1" smtClean="0">
                <a:ln>
                  <a:noFill/>
                </a:ln>
                <a:solidFill>
                  <a:schemeClr val="tx1"/>
                </a:solidFill>
                <a:effectLst/>
                <a:latin typeface="Cambria" panose="02040503050406030204" pitchFamily="18" charset="0"/>
                <a:ea typeface="Cambria" panose="02040503050406030204" pitchFamily="18" charset="0"/>
              </a:rPr>
              <a:t>SQuAD</a:t>
            </a:r>
            <a:r>
              <a:rPr kumimoji="0" lang="en-US" sz="2200" b="0" i="0" u="none" strike="noStrike" cap="none" normalizeH="0" baseline="0" dirty="0" smtClean="0">
                <a:ln>
                  <a:noFill/>
                </a:ln>
                <a:solidFill>
                  <a:schemeClr val="tx1"/>
                </a:solidFill>
                <a:effectLst/>
                <a:latin typeface="Cambria" panose="02040503050406030204" pitchFamily="18" charset="0"/>
                <a:ea typeface="Cambria" panose="02040503050406030204" pitchFamily="18" charset="0"/>
              </a:rPr>
              <a:t>. Proceedings of the 56th Annual Meeting of the Association for Computational Linguistics. </a:t>
            </a:r>
          </a:p>
        </p:txBody>
      </p:sp>
    </p:spTree>
    <p:extLst>
      <p:ext uri="{BB962C8B-B14F-4D97-AF65-F5344CB8AC3E}">
        <p14:creationId xmlns:p14="http://schemas.microsoft.com/office/powerpoint/2010/main" val="3613863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338A02-66E7-D4A9-0B63-EC7A4969F9A5}"/>
              </a:ext>
            </a:extLst>
          </p:cNvPr>
          <p:cNvSpPr>
            <a:spLocks noGrp="1"/>
          </p:cNvSpPr>
          <p:nvPr>
            <p:ph type="title"/>
          </p:nvPr>
        </p:nvSpPr>
        <p:spPr/>
        <p:txBody>
          <a:bodyPr/>
          <a:lstStyle/>
          <a:p>
            <a:r>
              <a:rPr lang="en-IN" dirty="0" smtClean="0">
                <a:latin typeface="Cambria" panose="02040503050406030204" pitchFamily="18" charset="0"/>
                <a:ea typeface="Cambria" panose="02040503050406030204" pitchFamily="18" charset="0"/>
              </a:rPr>
              <a:t>Publication Details</a:t>
            </a:r>
            <a:endParaRPr lang="en-IN" dirty="0">
              <a:latin typeface="Cambria" panose="02040503050406030204" pitchFamily="18" charset="0"/>
              <a:ea typeface="Cambria" panose="02040503050406030204" pitchFamily="18" charset="0"/>
            </a:endParaRPr>
          </a:p>
        </p:txBody>
      </p:sp>
      <p:sp>
        <p:nvSpPr>
          <p:cNvPr id="4" name="AutoShape 2" descr="Image preview">
            <a:extLst>
              <a:ext uri="{FF2B5EF4-FFF2-40B4-BE49-F238E27FC236}">
                <a16:creationId xmlns:a16="http://schemas.microsoft.com/office/drawing/2014/main" xmlns="" id="{96B0E362-745E-C478-1396-BA189B7150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795449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r>
              <a:rPr lang="en-GB" sz="6000" dirty="0" smtClean="0">
                <a:latin typeface="Cambria" panose="02040503050406030204" pitchFamily="18" charset="0"/>
                <a:ea typeface="Cambria" panose="02040503050406030204" pitchFamily="18" charset="0"/>
              </a:rPr>
              <a:t>                      Thank </a:t>
            </a:r>
            <a:r>
              <a:rPr lang="en-GB" sz="6000" dirty="0">
                <a:latin typeface="Cambria" panose="02040503050406030204" pitchFamily="18" charset="0"/>
                <a:ea typeface="Cambria" panose="02040503050406030204" pitchFamily="18" charset="0"/>
              </a:rPr>
              <a:t>You</a:t>
            </a:r>
          </a:p>
        </p:txBody>
      </p:sp>
      <p:pic>
        <p:nvPicPr>
          <p:cNvPr id="5" name="Picture 6" descr="http://cdn.worldofflowers.eu/media/productphotos/1146.jpg"/>
          <p:cNvPicPr>
            <a:picLocks noChangeAspect="1" noChangeArrowheads="1"/>
          </p:cNvPicPr>
          <p:nvPr/>
        </p:nvPicPr>
        <p:blipFill>
          <a:blip r:embed="rId2">
            <a:extLst>
              <a:ext uri="{28A0092B-C50C-407E-A947-70E740481C1C}">
                <a14:useLocalDpi xmlns:a14="http://schemas.microsoft.com/office/drawing/2010/main" val="0"/>
              </a:ext>
            </a:extLst>
          </a:blip>
          <a:srcRect t="5981" b="8089"/>
          <a:stretch>
            <a:fillRect/>
          </a:stretch>
        </p:blipFill>
        <p:spPr bwMode="auto">
          <a:xfrm>
            <a:off x="1364506" y="1437328"/>
            <a:ext cx="4212045" cy="3861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1672322"/>
      </p:ext>
    </p:extLst>
  </p:cSld>
  <p:clrMapOvr>
    <a:masterClrMapping/>
  </p:clrMapOvr>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ioinformatics" id="{2C23B8A5-E958-4A8C-AECF-01EA482D72F9}" vid="{45DF3A2B-1BA7-4465-AD96-220179DE36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261</TotalTime>
  <Words>1472</Words>
  <Application>Microsoft Office PowerPoint</Application>
  <PresentationFormat>Widescreen</PresentationFormat>
  <Paragraphs>128</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Bookman Old Style</vt:lpstr>
      <vt:lpstr>Calibri</vt:lpstr>
      <vt:lpstr>Cambria</vt:lpstr>
      <vt:lpstr>Verdana</vt:lpstr>
      <vt:lpstr>Wingdings</vt:lpstr>
      <vt:lpstr>Bioinformatics</vt:lpstr>
      <vt:lpstr>Financial Causality Detection </vt:lpstr>
      <vt:lpstr>Introduction of our Project</vt:lpstr>
      <vt:lpstr>Literature Review</vt:lpstr>
      <vt:lpstr>Literature Review</vt:lpstr>
      <vt:lpstr>Literature Review</vt:lpstr>
      <vt:lpstr>Research Gaps Identified</vt:lpstr>
      <vt:lpstr>Proposed Methodology</vt:lpstr>
      <vt:lpstr>Objectives</vt:lpstr>
      <vt:lpstr>Methodology/Modules</vt:lpstr>
      <vt:lpstr>System design and Implementation</vt:lpstr>
      <vt:lpstr>Architecture</vt:lpstr>
      <vt:lpstr>Hardware/software components</vt:lpstr>
      <vt:lpstr>Timeline of Project</vt:lpstr>
      <vt:lpstr>Expected Outcomes</vt:lpstr>
      <vt:lpstr>Conclusion</vt:lpstr>
      <vt:lpstr>References</vt:lpstr>
      <vt:lpstr>Publication Details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Vinusha Guranavar</cp:lastModifiedBy>
  <cp:revision>33</cp:revision>
  <dcterms:created xsi:type="dcterms:W3CDTF">2023-03-16T03:26:27Z</dcterms:created>
  <dcterms:modified xsi:type="dcterms:W3CDTF">2025-01-09T08:58:37Z</dcterms:modified>
</cp:coreProperties>
</file>