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1" r:id="rId7"/>
    <p:sldId id="276" r:id="rId8"/>
    <p:sldId id="272" r:id="rId9"/>
    <p:sldId id="275" r:id="rId10"/>
    <p:sldId id="273" r:id="rId11"/>
    <p:sldId id="27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 autoAdjust="0"/>
    <p:restoredTop sz="94660"/>
  </p:normalViewPr>
  <p:slideViewPr>
    <p:cSldViewPr snapToGrid="0">
      <p:cViewPr varScale="1">
        <p:scale>
          <a:sx n="74" d="100"/>
          <a:sy n="74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0877" y="1322386"/>
            <a:ext cx="103632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997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9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1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8" y="304800"/>
            <a:ext cx="10668000" cy="487362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163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0" y="274638"/>
            <a:ext cx="7721600" cy="4873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pic>
        <p:nvPicPr>
          <p:cNvPr id="2051" name="Picture 3" descr="C:\Users\AMMU\Desktop\Borde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09" y="139874"/>
            <a:ext cx="9686793" cy="69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02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7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56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595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6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74638"/>
            <a:ext cx="10668000" cy="4873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143001"/>
            <a:ext cx="10668000" cy="49529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994CE30-7D40-4BC0-BA0D-56C992D5B4BD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1BCD3F7E-62B3-4FB9-95CE-D1B0CC271B85}" type="slidenum">
              <a:rPr lang="en-GB" smtClean="0"/>
              <a:t>‹#›</a:t>
            </a:fld>
            <a:endParaRPr lang="en-GB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xmlns="" id="{3F0EAE8F-8B4C-436F-93E6-DF250930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" y="914400"/>
            <a:ext cx="10668000" cy="0"/>
          </a:xfrm>
          <a:prstGeom prst="line">
            <a:avLst/>
          </a:prstGeom>
          <a:noFill/>
          <a:ln w="57150" cmpd="thickThin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IN" sz="1800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5847C07-33FE-4652-A9FD-CD40E657B78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45"/>
          <a:stretch/>
        </p:blipFill>
        <p:spPr bwMode="auto">
          <a:xfrm>
            <a:off x="0" y="5991366"/>
            <a:ext cx="12192000" cy="86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484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rgbClr val="FF0000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469" y="777175"/>
            <a:ext cx="10363200" cy="1470025"/>
          </a:xfrm>
        </p:spPr>
        <p:txBody>
          <a:bodyPr/>
          <a:lstStyle/>
          <a:p>
            <a:pPr algn="ctr"/>
            <a:r>
              <a:rPr lang="en-IN" dirty="0"/>
              <a:t>Financial Causality Detection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2278" y="2018874"/>
            <a:ext cx="3970594" cy="552184"/>
          </a:xfrm>
        </p:spPr>
        <p:txBody>
          <a:bodyPr>
            <a:normAutofit/>
          </a:bodyPr>
          <a:lstStyle/>
          <a:p>
            <a:pPr algn="l"/>
            <a:r>
              <a:rPr lang="en-GB" sz="1800" dirty="0" smtClean="0">
                <a:latin typeface="+mj-lt"/>
              </a:rPr>
              <a:t>Batch Number: G-9 </a:t>
            </a:r>
          </a:p>
          <a:p>
            <a:pPr algn="l"/>
            <a:endParaRPr lang="en-GB" sz="1800" dirty="0">
              <a:latin typeface="+mj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576116"/>
              </p:ext>
            </p:extLst>
          </p:nvPr>
        </p:nvGraphicFramePr>
        <p:xfrm>
          <a:off x="749868" y="2447531"/>
          <a:ext cx="5418666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3331634959"/>
                    </a:ext>
                  </a:extLst>
                </a:gridCol>
                <a:gridCol w="3333666">
                  <a:extLst>
                    <a:ext uri="{9D8B030D-6E8A-4147-A177-3AD203B41FA5}">
                      <a16:colId xmlns:a16="http://schemas.microsoft.com/office/drawing/2014/main" xmlns="" val="2054911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 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 smtClean="0">
                          <a:solidFill>
                            <a:srgbClr val="17365D"/>
                          </a:solidFill>
                        </a:rPr>
                        <a:t>           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854405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8365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65314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499541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5788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080820719"/>
                  </a:ext>
                </a:extLst>
              </a:tr>
            </a:tbl>
          </a:graphicData>
        </a:graphic>
      </p:graphicFrame>
      <p:sp>
        <p:nvSpPr>
          <p:cNvPr id="5" name="Subtitle 2"/>
          <p:cNvSpPr txBox="1">
            <a:spLocks/>
          </p:cNvSpPr>
          <p:nvPr/>
        </p:nvSpPr>
        <p:spPr>
          <a:xfrm>
            <a:off x="6677708" y="2721956"/>
            <a:ext cx="5514292" cy="2433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3986772" y="334089"/>
            <a:ext cx="3970594" cy="552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buClr>
                <a:srgbClr val="17365D"/>
              </a:buClr>
              <a:buSzPct val="100000"/>
            </a:pPr>
            <a:r>
              <a:rPr lang="en-GB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PSCS184 Capstone Project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10"/>
              </a:spcBef>
              <a:buClr>
                <a:srgbClr val="17365D"/>
              </a:buClr>
              <a:buSzPct val="100000"/>
            </a:pPr>
            <a:r>
              <a:rPr lang="en-GB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lang="en-GB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12418" y="2487122"/>
            <a:ext cx="6096000" cy="256480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buClr>
                <a:srgbClr val="17365D"/>
              </a:buClr>
              <a:buSzPts val="2000"/>
            </a:pPr>
            <a:r>
              <a:rPr lang="en-US" sz="24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Joe </a:t>
            </a:r>
            <a:r>
              <a:rPr lang="en-US" b="1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Arun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Raja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400"/>
              </a:spcBef>
              <a:buClr>
                <a:srgbClr val="17365D"/>
              </a:buClr>
              <a:buSzPts val="2000"/>
            </a:pPr>
            <a:endParaRPr lang="en-US" sz="24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6289" y="4688755"/>
            <a:ext cx="111224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17365D"/>
              </a:buClr>
              <a:buSzPct val="100000"/>
            </a:pP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Shyam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Sudha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</a:t>
            </a:r>
            <a:endParaRPr lang="en-US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/ Dr. Abdul Khadar A / Mr.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Zia Ur Rahman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15" y="2894916"/>
            <a:ext cx="4876235" cy="179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4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Extractive QA (Roberta-based model</a:t>
            </a: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The extractive QA part uses the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RoBERTa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(Robustly Optimized BERT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Pretraining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Approach)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model fine-tuned on the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SQuAD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2.0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dataset. This model identifies specific spans of text (exact answers) within the context to answer the question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deepset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/Roberta-base-squad2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is used for extractive QA. The model uses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transformers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for identifying exact answers based on the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context.</a:t>
            </a: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48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AE4791-63CE-F72C-7720-E93776876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72F65C-7769-1F45-7F29-8EE814EA5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Generative QA (GPT-2 model</a:t>
            </a: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Algorithm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The generative QA part uses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GPT-2 (Generative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Pretrained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Transformer 2)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which is a generative model that produces creative, freeform text responses. It doesn't rely on specific text spans but instead generates answers based on its training in language modeling.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Implementation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 The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 gpt2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is used for text generation, which generates new text (complex or creative answers) based on the context and question.</a:t>
            </a:r>
          </a:p>
        </p:txBody>
      </p:sp>
    </p:spTree>
    <p:extLst>
      <p:ext uri="{BB962C8B-B14F-4D97-AF65-F5344CB8AC3E}">
        <p14:creationId xmlns:p14="http://schemas.microsoft.com/office/powerpoint/2010/main" val="424632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98AA8D-4904-5746-B9D3-EE6534E3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BC469C-6B7A-581C-5E9F-878294EC2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import spacy</a:t>
            </a:r>
          </a:p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from transformers import pipeline</a:t>
            </a:r>
          </a:p>
          <a:p>
            <a:pPr marL="0" indent="0" algn="just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# Load language models for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preprocessing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nlp_en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spacy.load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en_core_web_sm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nlp_es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spacy.load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es_core_news_sm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</a:p>
          <a:p>
            <a:pPr marL="0" indent="0" algn="just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# Initialize pre-trained transformers for extractive QA</a:t>
            </a:r>
          </a:p>
          <a:p>
            <a:pPr marL="0" indent="0" algn="just">
              <a:buNone/>
            </a:pP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extractive_qa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pipeline("question-answering", model="deepset/roberta-base-squad2")</a:t>
            </a:r>
          </a:p>
          <a:p>
            <a:pPr marL="0" indent="0" algn="just">
              <a:buNone/>
            </a:pP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# Initialize GPT-2 or another generative model for generative QA</a:t>
            </a:r>
          </a:p>
          <a:p>
            <a:pPr marL="0" indent="0" algn="just">
              <a:buNone/>
            </a:pP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generative_qa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= pipeline("text-generation", model="gpt2")</a:t>
            </a:r>
          </a:p>
        </p:txBody>
      </p:sp>
    </p:spTree>
    <p:extLst>
      <p:ext uri="{BB962C8B-B14F-4D97-AF65-F5344CB8AC3E}">
        <p14:creationId xmlns:p14="http://schemas.microsoft.com/office/powerpoint/2010/main" val="42791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5B455D-69B7-D5C7-E7A5-A10CA3A4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0CD0F2-C02F-B013-F60C-E5F69862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def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(text, language="en"):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Preprocess text using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SpaCy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NLP model for tokenization and language-specific cleanup.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if language == "en":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doc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nlp_en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(text)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else: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 doc =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nlp_es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(text)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return " ".join([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token.text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for token in doc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])</a:t>
            </a:r>
          </a:p>
          <a:p>
            <a:pPr marL="0" indent="0" algn="just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def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generative_answer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Use the generative model to generate more creative and complex answers.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return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generative_qa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(context + question,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max_new_tokens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=50)[0]['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generated_text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']</a:t>
            </a:r>
          </a:p>
          <a:p>
            <a:pPr marL="0" indent="0" algn="just">
              <a:buNone/>
            </a:pPr>
            <a:endParaRPr lang="en-US" sz="1800" dirty="0" err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03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31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sz="3100" b="1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IN" sz="31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3100" b="1" dirty="0">
                <a:latin typeface="Cambria" panose="02040503050406030204" pitchFamily="18" charset="0"/>
                <a:ea typeface="Cambria" panose="02040503050406030204" pitchFamily="18" charset="0"/>
              </a:rPr>
              <a:t>Imports and Initial </a:t>
            </a:r>
            <a:r>
              <a:rPr lang="en-IN" sz="31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Setup</a:t>
            </a:r>
            <a:endParaRPr lang="en-IN" sz="31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import spacy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from transformers import pipeline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# Load language models for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preprocessing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nlp_en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spacy.load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en_core_web_sm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nlp_es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spacy.load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("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es_core_news_sm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# Initialize pre-trained transformers for extractive QA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extractive_qa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pipeline("question-answering", model="deepset/roberta-base-squad2")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# Initialize GPT-2 or another generative model for generative QA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generative_qa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= pipeline("text-generation", model="gpt2")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28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Explanation: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Spacy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imported and two language models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nlp_en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for English </a:t>
            </a: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IN" sz="22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nlp_es</a:t>
            </a: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or Spanish) are loaded. These are used to tokenize and preprocess text in both languages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Hugging Face Transformers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used to load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Extractive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QA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: The </a:t>
            </a:r>
            <a:r>
              <a:rPr lang="en-IN" sz="2200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deepset/Roberta-base-squad2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model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is loaded, which is a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RoBERTa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-based model fine-tuned for question </a:t>
            </a:r>
            <a:r>
              <a:rPr lang="en-US" sz="2200" dirty="0" smtClean="0">
                <a:latin typeface="Cambria" panose="02040503050406030204" pitchFamily="18" charset="0"/>
                <a:ea typeface="Cambria" panose="02040503050406030204" pitchFamily="18" charset="0"/>
              </a:rPr>
              <a:t>answering.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Generative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QA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: The GPT-2 model is loaded, which is used for generating creative, open-ended responses.</a:t>
            </a: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65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48" y="300396"/>
            <a:ext cx="10668000" cy="487362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258911"/>
            <a:ext cx="10668000" cy="4952997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</a:pPr>
            <a:r>
              <a:rPr lang="en-IN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2: </a:t>
            </a:r>
            <a:r>
              <a:rPr lang="en-IN" b="1" dirty="0"/>
              <a:t>Text </a:t>
            </a:r>
            <a:r>
              <a:rPr lang="en-IN" b="1" dirty="0" err="1"/>
              <a:t>Preprocessing</a:t>
            </a:r>
            <a:r>
              <a:rPr lang="en-IN" b="1" dirty="0"/>
              <a:t> </a:t>
            </a:r>
            <a:r>
              <a:rPr lang="en-IN" b="1" dirty="0" smtClean="0"/>
              <a:t>Function</a:t>
            </a:r>
            <a:endParaRPr lang="en-IN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def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(text, language="en"):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Preprocess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text using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SpaCy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NLP model for tokenization and language-specific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cleanup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"""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if language == "en":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doc =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nlp_en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(text)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else: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doc = 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nlp_es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(text)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return " ".join([</a:t>
            </a:r>
            <a:r>
              <a:rPr lang="en-I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token.text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token in doc])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4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648" y="300396"/>
            <a:ext cx="10668000" cy="487362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258911"/>
            <a:ext cx="10668000" cy="495299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Explanation: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preprocess_text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() function cleans and tokenizes the input using Spacy models.</a:t>
            </a:r>
          </a:p>
          <a:p>
            <a:pPr algn="just">
              <a:lnSpc>
                <a:spcPct val="150000"/>
              </a:lnSpc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It takes in text and the language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 inputs (either "en" for English or "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" for Spanish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 returns a preprocessed version of the text by tokenizing it and joining the tokens into a string.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 smtClean="0"/>
              <a:t> 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9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4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Step </a:t>
            </a:r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en-IN" sz="4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4400" b="1" dirty="0">
                <a:latin typeface="Cambria" panose="02040503050406030204" pitchFamily="18" charset="0"/>
                <a:ea typeface="Cambria" panose="02040503050406030204" pitchFamily="18" charset="0"/>
              </a:rPr>
              <a:t>Extractive QA </a:t>
            </a:r>
            <a:r>
              <a:rPr lang="en-IN" sz="4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err="1">
                <a:latin typeface="Cambria" panose="02040503050406030204" pitchFamily="18" charset="0"/>
                <a:ea typeface="Cambria" panose="02040503050406030204" pitchFamily="18" charset="0"/>
              </a:rPr>
              <a:t>def</a:t>
            </a:r>
            <a:r>
              <a:rPr lang="en-US" sz="3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extractive_answer</a:t>
            </a:r>
            <a:r>
              <a:rPr lang="en-US" sz="3800" dirty="0">
                <a:latin typeface="Cambria" panose="02040503050406030204" pitchFamily="18" charset="0"/>
                <a:ea typeface="Cambria" panose="02040503050406030204" pitchFamily="18" charset="0"/>
              </a:rPr>
              <a:t>(context, question, language="en"):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 ""“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Use </a:t>
            </a:r>
            <a:r>
              <a:rPr lang="en-US" sz="3800" dirty="0">
                <a:latin typeface="Cambria" panose="02040503050406030204" pitchFamily="18" charset="0"/>
                <a:ea typeface="Cambria" panose="02040503050406030204" pitchFamily="18" charset="0"/>
              </a:rPr>
              <a:t>the extractive QA model to find the answer from the given context</a:t>
            </a: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""“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return </a:t>
            </a:r>
            <a:r>
              <a:rPr lang="en-US" sz="3800" dirty="0" err="1">
                <a:latin typeface="Cambria" panose="02040503050406030204" pitchFamily="18" charset="0"/>
                <a:ea typeface="Cambria" panose="02040503050406030204" pitchFamily="18" charset="0"/>
              </a:rPr>
              <a:t>extractive_qa</a:t>
            </a:r>
            <a:r>
              <a:rPr lang="en-US" sz="3800" dirty="0">
                <a:latin typeface="Cambria" panose="02040503050406030204" pitchFamily="18" charset="0"/>
                <a:ea typeface="Cambria" panose="02040503050406030204" pitchFamily="18" charset="0"/>
              </a:rPr>
              <a:t>(question=question, context=context)['answer']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38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endParaRPr lang="en-US" sz="3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78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Explanation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function is responsible for generating a precise, fact-based answer using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extractive QA model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It is a context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(the financial paragraph) and a question as inputs, then uses the extractive model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xtractive_qa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to find and return an exact answer from the context.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71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endParaRPr lang="en-GB" sz="4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GB" sz="60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lang="en-GB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7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oinformatics" id="{2C23B8A5-E958-4A8C-AECF-01EA482D72F9}" vid="{45DF3A2B-1BA7-4465-AD96-220179DE36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Bioinformatics</Template>
  <TotalTime>3252</TotalTime>
  <Words>777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Bookman Old Style</vt:lpstr>
      <vt:lpstr>Calibri</vt:lpstr>
      <vt:lpstr>Cambria</vt:lpstr>
      <vt:lpstr>Verdana</vt:lpstr>
      <vt:lpstr>Wingdings</vt:lpstr>
      <vt:lpstr>Bioinformatics</vt:lpstr>
      <vt:lpstr>Financial Causality Detection </vt:lpstr>
      <vt:lpstr>Algorithm</vt:lpstr>
      <vt:lpstr>Algorithm</vt:lpstr>
      <vt:lpstr>Code</vt:lpstr>
      <vt:lpstr>Code</vt:lpstr>
      <vt:lpstr>Code Explanation</vt:lpstr>
      <vt:lpstr>Code Explanation</vt:lpstr>
      <vt:lpstr>Code Explanation</vt:lpstr>
      <vt:lpstr>Code Explanation</vt:lpstr>
      <vt:lpstr>Code Explanation</vt:lpstr>
      <vt:lpstr>Code Explanation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Sanjeev P Kaulgud-Asst. Prof-CSE</dc:creator>
  <cp:lastModifiedBy>Vinusha Guranavar</cp:lastModifiedBy>
  <cp:revision>37</cp:revision>
  <dcterms:created xsi:type="dcterms:W3CDTF">2023-03-16T03:26:27Z</dcterms:created>
  <dcterms:modified xsi:type="dcterms:W3CDTF">2025-01-09T08:54:02Z</dcterms:modified>
</cp:coreProperties>
</file>